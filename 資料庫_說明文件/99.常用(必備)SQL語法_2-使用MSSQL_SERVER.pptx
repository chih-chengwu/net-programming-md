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2" r:id="rId3"/>
    <p:sldId id="273" r:id="rId4"/>
    <p:sldId id="274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8BF15FC-7533-46CC-8252-8A6C4E47987F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932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C95057F-DE21-40BD-88A2-1B81D920EA8D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61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84817B9-C8A8-4784-819F-B9AB88F2985E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17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18BB261-AE8F-4C86-AB65-CD2B6F5F7638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27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46BD66-D0B8-4BA2-8C25-26A6832E0F1A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565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841F50F-E58C-4E9A-A01B-647F562BB78D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7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B8067FB-76FC-4FBA-8344-3DDB43CE74D7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56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2C208C8-5249-4680-83F7-705F78FBD21D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75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35BEED-EB6E-4235-B1AC-9506D535F0FB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60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4A308BE-B5F7-4700-853A-C33736DCA0BD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194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824978-CE8A-4C7A-B479-1AA352E2E07E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60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8BF15FC-7533-46CC-8252-8A6C4E47987F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310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C95057F-DE21-40BD-88A2-1B81D920EA8D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74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84817B9-C8A8-4784-819F-B9AB88F2985E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988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18BB261-AE8F-4C86-AB65-CD2B6F5F7638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04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46BD66-D0B8-4BA2-8C25-26A6832E0F1A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362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841F50F-E58C-4E9A-A01B-647F562BB78D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7042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B8067FB-76FC-4FBA-8344-3DDB43CE74D7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418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2C208C8-5249-4680-83F7-705F78FBD21D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915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35BEED-EB6E-4235-B1AC-9506D535F0FB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381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4A308BE-B5F7-4700-853A-C33736DCA0BD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25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824978-CE8A-4C7A-B479-1AA352E2E07E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517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TW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TW" smtClean="0"/>
              <a:t>Haga clic para modificar el estilo de texto del patrón</a:t>
            </a:r>
          </a:p>
          <a:p>
            <a:pPr lvl="1"/>
            <a:r>
              <a:rPr lang="es-ES" altLang="zh-TW" smtClean="0"/>
              <a:t>Segundo nivel</a:t>
            </a:r>
          </a:p>
          <a:p>
            <a:pPr lvl="2"/>
            <a:r>
              <a:rPr lang="es-ES" altLang="zh-TW" smtClean="0"/>
              <a:t>Tercer nivel</a:t>
            </a:r>
          </a:p>
          <a:p>
            <a:pPr lvl="3"/>
            <a:r>
              <a:rPr lang="es-ES" altLang="zh-TW" smtClean="0"/>
              <a:t>Cuarto nivel</a:t>
            </a:r>
          </a:p>
          <a:p>
            <a:pPr lvl="4"/>
            <a:r>
              <a:rPr lang="es-ES" altLang="zh-TW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FC72EA-2A0F-458C-A8DC-BC4BF7E7A085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94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TW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TW" smtClean="0"/>
              <a:t>Haga clic para modificar el estilo de texto del patrón</a:t>
            </a:r>
          </a:p>
          <a:p>
            <a:pPr lvl="1"/>
            <a:r>
              <a:rPr lang="es-ES" altLang="zh-TW" smtClean="0"/>
              <a:t>Segundo nivel</a:t>
            </a:r>
          </a:p>
          <a:p>
            <a:pPr lvl="2"/>
            <a:r>
              <a:rPr lang="es-ES" altLang="zh-TW" smtClean="0"/>
              <a:t>Tercer nivel</a:t>
            </a:r>
          </a:p>
          <a:p>
            <a:pPr lvl="3"/>
            <a:r>
              <a:rPr lang="es-ES" altLang="zh-TW" smtClean="0"/>
              <a:t>Cuarto nivel</a:t>
            </a:r>
          </a:p>
          <a:p>
            <a:pPr lvl="4"/>
            <a:r>
              <a:rPr lang="es-ES" altLang="zh-TW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altLang="zh-TW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FC72EA-2A0F-458C-A8DC-BC4BF7E7A085}" type="slidenum">
              <a:rPr lang="es-ES" altLang="zh-TW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31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9"/>
          <p:cNvSpPr>
            <a:spLocks noGrp="1" noChangeArrowheads="1"/>
          </p:cNvSpPr>
          <p:nvPr>
            <p:ph type="subTitle" idx="1"/>
          </p:nvPr>
        </p:nvSpPr>
        <p:spPr>
          <a:xfrm>
            <a:off x="2122489" y="4495801"/>
            <a:ext cx="7921625" cy="2016125"/>
          </a:xfrm>
        </p:spPr>
        <p:txBody>
          <a:bodyPr/>
          <a:lstStyle/>
          <a:p>
            <a:pPr eaLnBrk="1" hangingPunct="1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報告人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吳志成 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/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慈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濟大學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資訊科技與管理系 助理教授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75" name="Rectangle 25"/>
          <p:cNvSpPr txBox="1">
            <a:spLocks noChangeArrowheads="1"/>
          </p:cNvSpPr>
          <p:nvPr/>
        </p:nvSpPr>
        <p:spPr bwMode="auto">
          <a:xfrm>
            <a:off x="1811339" y="852489"/>
            <a:ext cx="8245475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6000" b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常用</a:t>
            </a:r>
            <a:r>
              <a:rPr lang="en-US" altLang="zh-TW" sz="6000" b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6000" b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必備</a:t>
            </a:r>
            <a:r>
              <a:rPr lang="en-US" altLang="zh-TW" sz="6000" b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)MS SQL</a:t>
            </a:r>
            <a:r>
              <a:rPr lang="zh-TW" altLang="en-US" sz="6000" b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語法</a:t>
            </a:r>
            <a:endParaRPr lang="en-US" altLang="zh-TW" sz="6000" b="1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7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6CE61A05-D156-46F0-8A07-353635DF125A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</a:t>
            </a:fld>
            <a:endParaRPr lang="es-ES" altLang="zh-TW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93491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 noChangeArrowheads="1"/>
          </p:cNvSpPr>
          <p:nvPr>
            <p:ph type="ctrTitle"/>
          </p:nvPr>
        </p:nvSpPr>
        <p:spPr>
          <a:xfrm>
            <a:off x="1919289" y="1628775"/>
            <a:ext cx="8497887" cy="2808288"/>
          </a:xfrm>
        </p:spPr>
        <p:txBody>
          <a:bodyPr/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使用環境</a:t>
            </a:r>
            <a: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54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MS </a:t>
            </a:r>
            <a:r>
              <a:rPr lang="en-US" altLang="zh-TW" sz="54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 </a:t>
            </a:r>
            <a:r>
              <a:rPr lang="en-US" altLang="zh-TW" sz="54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SERVER</a:t>
            </a:r>
            <a:endParaRPr lang="zh-TW" altLang="en-US" sz="5400" b="1" dirty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sp>
        <p:nvSpPr>
          <p:cNvPr id="4099" name="副標題 2"/>
          <p:cNvSpPr>
            <a:spLocks noGrp="1" noChangeArrowheads="1"/>
          </p:cNvSpPr>
          <p:nvPr>
            <p:ph type="subTitle" idx="1"/>
          </p:nvPr>
        </p:nvSpPr>
        <p:spPr>
          <a:xfrm>
            <a:off x="2566988" y="5799139"/>
            <a:ext cx="6858000" cy="676275"/>
          </a:xfrm>
        </p:spPr>
        <p:txBody>
          <a:bodyPr/>
          <a:lstStyle/>
          <a:p>
            <a:r>
              <a:rPr lang="en-US" altLang="zh-TW" sz="3200" dirty="0" smtClean="0">
                <a:solidFill>
                  <a:srgbClr val="0000FF"/>
                </a:solidFill>
                <a:ea typeface="新細明體" panose="02020500000000000000" pitchFamily="18" charset="-120"/>
              </a:rPr>
              <a:t>203.64.37.95</a:t>
            </a:r>
            <a:endParaRPr lang="zh-TW" altLang="en-US" sz="3200" dirty="0">
              <a:solidFill>
                <a:srgbClr val="0000FF"/>
              </a:solidFill>
              <a:ea typeface="新細明體" panose="02020500000000000000" pitchFamily="18" charset="-120"/>
            </a:endParaRPr>
          </a:p>
        </p:txBody>
      </p:sp>
      <p:sp>
        <p:nvSpPr>
          <p:cNvPr id="4100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9A9E68A2-12CA-4454-9129-38AECA791F37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s-ES" altLang="zh-TW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26492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8195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D183D6-A88E-4770-AD3D-1DEA11B0D2B3}" type="slidenum">
              <a:rPr lang="es-ES" altLang="zh-TW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s-ES" altLang="zh-TW" sz="1400"/>
          </a:p>
        </p:txBody>
      </p:sp>
      <p:sp>
        <p:nvSpPr>
          <p:cNvPr id="8196" name="矩形 4"/>
          <p:cNvSpPr>
            <a:spLocks noChangeArrowheads="1"/>
          </p:cNvSpPr>
          <p:nvPr/>
        </p:nvSpPr>
        <p:spPr bwMode="auto">
          <a:xfrm>
            <a:off x="1981200" y="1700213"/>
            <a:ext cx="8229600" cy="25209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ea typeface="新細明體" panose="02020500000000000000" pitchFamily="18" charset="-120"/>
              </a:rPr>
              <a:t>--select * from OrderDetails  where OrderID='10248' and OrderDetailID=1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1800"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ea typeface="新細明體" panose="02020500000000000000" pitchFamily="18" charset="-120"/>
              </a:rPr>
              <a:t>--update OrderDetails set ProductID='99999' where OrderID='10248' and OrderDetailID=1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1800"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ea typeface="新細明體" panose="02020500000000000000" pitchFamily="18" charset="-120"/>
              </a:rPr>
              <a:t>SELECT a.*, b.ProductName, b.Price from [OrderDetails] a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ea typeface="新細明體" panose="02020500000000000000" pitchFamily="18" charset="-120"/>
              </a:rPr>
              <a:t>left join Products b on a.ProductID=b.ProductID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ea typeface="新細明體" panose="02020500000000000000" pitchFamily="18" charset="-120"/>
              </a:rPr>
              <a:t>where a.OrderID like '1024%' </a:t>
            </a: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8197" name="文字方塊 5"/>
          <p:cNvSpPr txBox="1">
            <a:spLocks noChangeArrowheads="1"/>
          </p:cNvSpPr>
          <p:nvPr/>
        </p:nvSpPr>
        <p:spPr bwMode="auto">
          <a:xfrm>
            <a:off x="1981200" y="4767264"/>
            <a:ext cx="8229600" cy="1201737"/>
          </a:xfrm>
          <a:prstGeom prst="rect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800">
                <a:ea typeface="新細明體" panose="02020500000000000000" pitchFamily="18" charset="-120"/>
              </a:rPr>
              <a:t>1.</a:t>
            </a:r>
            <a:r>
              <a:rPr lang="zh-TW" altLang="en-US" sz="1800">
                <a:ea typeface="新細明體" panose="02020500000000000000" pitchFamily="18" charset="-120"/>
              </a:rPr>
              <a:t>原來</a:t>
            </a:r>
            <a:r>
              <a:rPr lang="en-US" altLang="zh-TW" sz="1800">
                <a:ea typeface="新細明體" panose="02020500000000000000" pitchFamily="18" charset="-120"/>
              </a:rPr>
              <a:t>table OrderDetails, OrderID=‘10248’ and OrderDetailID=1</a:t>
            </a:r>
            <a:r>
              <a:rPr lang="zh-TW" altLang="en-US" sz="1800">
                <a:ea typeface="新細明體" panose="02020500000000000000" pitchFamily="18" charset="-120"/>
              </a:rPr>
              <a:t>的</a:t>
            </a:r>
            <a:r>
              <a:rPr lang="zh-TW" altLang="en-US" sz="1800">
                <a:solidFill>
                  <a:srgbClr val="FF0000"/>
                </a:solidFill>
                <a:ea typeface="新細明體" panose="02020500000000000000" pitchFamily="18" charset="-120"/>
              </a:rPr>
              <a:t>產品</a:t>
            </a:r>
            <a:r>
              <a:rPr lang="en-US" altLang="zh-TW" sz="1800">
                <a:solidFill>
                  <a:srgbClr val="FF0000"/>
                </a:solidFill>
                <a:ea typeface="新細明體" panose="02020500000000000000" pitchFamily="18" charset="-120"/>
              </a:rPr>
              <a:t>ID=11</a:t>
            </a:r>
            <a:endParaRPr lang="en-US" altLang="zh-TW" sz="1800"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1800">
                <a:ea typeface="新細明體" panose="02020500000000000000" pitchFamily="18" charset="-120"/>
              </a:rPr>
              <a:t>2. </a:t>
            </a:r>
            <a:r>
              <a:rPr lang="zh-TW" altLang="en-US" sz="1800">
                <a:ea typeface="新細明體" panose="02020500000000000000" pitchFamily="18" charset="-120"/>
              </a:rPr>
              <a:t>將產品</a:t>
            </a:r>
            <a:r>
              <a:rPr lang="en-US" altLang="zh-TW" sz="1800">
                <a:ea typeface="新細明體" panose="02020500000000000000" pitchFamily="18" charset="-120"/>
              </a:rPr>
              <a:t>ID</a:t>
            </a:r>
            <a:r>
              <a:rPr lang="zh-TW" altLang="en-US" sz="1800">
                <a:ea typeface="新細明體" panose="02020500000000000000" pitchFamily="18" charset="-120"/>
              </a:rPr>
              <a:t>改成</a:t>
            </a:r>
            <a:r>
              <a:rPr lang="en-US" altLang="zh-TW" sz="1800">
                <a:solidFill>
                  <a:srgbClr val="FF0000"/>
                </a:solidFill>
                <a:ea typeface="新細明體" panose="02020500000000000000" pitchFamily="18" charset="-120"/>
              </a:rPr>
              <a:t>99999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1800">
                <a:ea typeface="新細明體" panose="02020500000000000000" pitchFamily="18" charset="-120"/>
              </a:rPr>
              <a:t>3.</a:t>
            </a:r>
            <a:r>
              <a:rPr lang="zh-TW" altLang="en-US" sz="1800">
                <a:ea typeface="新細明體" panose="02020500000000000000" pitchFamily="18" charset="-120"/>
              </a:rPr>
              <a:t>分別使用</a:t>
            </a:r>
            <a:r>
              <a:rPr lang="en-US" altLang="zh-TW" sz="1800">
                <a:solidFill>
                  <a:srgbClr val="0033CC"/>
                </a:solidFill>
                <a:ea typeface="新細明體" panose="02020500000000000000" pitchFamily="18" charset="-120"/>
              </a:rPr>
              <a:t>left</a:t>
            </a:r>
            <a:r>
              <a:rPr lang="en-US" altLang="zh-TW" sz="1800">
                <a:ea typeface="新細明體" panose="02020500000000000000" pitchFamily="18" charset="-120"/>
              </a:rPr>
              <a:t> join</a:t>
            </a:r>
            <a:r>
              <a:rPr lang="zh-TW" altLang="en-US" sz="1800">
                <a:ea typeface="新細明體" panose="02020500000000000000" pitchFamily="18" charset="-120"/>
              </a:rPr>
              <a:t>及</a:t>
            </a:r>
            <a:r>
              <a:rPr lang="en-US" altLang="zh-TW" sz="1800">
                <a:solidFill>
                  <a:srgbClr val="0033CC"/>
                </a:solidFill>
                <a:ea typeface="新細明體" panose="02020500000000000000" pitchFamily="18" charset="-120"/>
              </a:rPr>
              <a:t>inner</a:t>
            </a:r>
            <a:r>
              <a:rPr lang="en-US" altLang="zh-TW" sz="1800">
                <a:ea typeface="新細明體" panose="02020500000000000000" pitchFamily="18" charset="-120"/>
              </a:rPr>
              <a:t> join</a:t>
            </a:r>
            <a:br>
              <a:rPr lang="en-US" altLang="zh-TW" sz="1800">
                <a:ea typeface="新細明體" panose="02020500000000000000" pitchFamily="18" charset="-120"/>
              </a:rPr>
            </a:br>
            <a:r>
              <a:rPr lang="en-US" altLang="zh-TW" sz="1800">
                <a:ea typeface="新細明體" panose="02020500000000000000" pitchFamily="18" charset="-120"/>
              </a:rPr>
              <a:t>   </a:t>
            </a:r>
            <a:r>
              <a:rPr lang="zh-TW" altLang="en-US" sz="1800">
                <a:ea typeface="新細明體" panose="02020500000000000000" pitchFamily="18" charset="-120"/>
              </a:rPr>
              <a:t>看看以</a:t>
            </a:r>
            <a:r>
              <a:rPr lang="en-US" altLang="zh-TW" sz="1800">
                <a:ea typeface="新細明體" panose="02020500000000000000" pitchFamily="18" charset="-120"/>
              </a:rPr>
              <a:t> [OrderDetails]  join Products</a:t>
            </a:r>
            <a:r>
              <a:rPr lang="zh-TW" altLang="en-US" sz="1800">
                <a:ea typeface="新細明體" panose="02020500000000000000" pitchFamily="18" charset="-120"/>
              </a:rPr>
              <a:t>時</a:t>
            </a:r>
            <a:r>
              <a:rPr lang="en-US" altLang="zh-TW" sz="1800">
                <a:ea typeface="新細明體" panose="02020500000000000000" pitchFamily="18" charset="-120"/>
              </a:rPr>
              <a:t>, </a:t>
            </a:r>
            <a:r>
              <a:rPr lang="zh-TW" altLang="en-US" sz="1800">
                <a:ea typeface="新細明體" panose="02020500000000000000" pitchFamily="18" charset="-120"/>
              </a:rPr>
              <a:t>有不存在的產品</a:t>
            </a:r>
            <a:r>
              <a:rPr lang="en-US" altLang="zh-TW" sz="1800">
                <a:ea typeface="新細明體" panose="02020500000000000000" pitchFamily="18" charset="-120"/>
              </a:rPr>
              <a:t>ID</a:t>
            </a:r>
            <a:r>
              <a:rPr lang="zh-TW" altLang="en-US" sz="1800">
                <a:ea typeface="新細明體" panose="02020500000000000000" pitchFamily="18" charset="-120"/>
              </a:rPr>
              <a:t>時</a:t>
            </a:r>
            <a:r>
              <a:rPr lang="en-US" altLang="zh-TW" sz="1800">
                <a:ea typeface="新細明體" panose="02020500000000000000" pitchFamily="18" charset="-120"/>
              </a:rPr>
              <a:t>, </a:t>
            </a:r>
            <a:r>
              <a:rPr lang="zh-TW" altLang="en-US" sz="1800">
                <a:ea typeface="新細明體" panose="02020500000000000000" pitchFamily="18" charset="-120"/>
              </a:rPr>
              <a:t>有什麼不同</a:t>
            </a:r>
          </a:p>
        </p:txBody>
      </p:sp>
    </p:spTree>
    <p:extLst>
      <p:ext uri="{BB962C8B-B14F-4D97-AF65-F5344CB8AC3E}">
        <p14:creationId xmlns:p14="http://schemas.microsoft.com/office/powerpoint/2010/main" val="26752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758825"/>
          </a:xfrm>
        </p:spPr>
        <p:txBody>
          <a:bodyPr/>
          <a:lstStyle/>
          <a:p>
            <a:r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9219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673B72B1-D210-4172-A881-44EB48BAB69A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s-ES" altLang="zh-TW" sz="1400">
              <a:solidFill>
                <a:srgbClr val="000000"/>
              </a:solidFill>
            </a:endParaRPr>
          </a:p>
        </p:txBody>
      </p:sp>
      <p:sp>
        <p:nvSpPr>
          <p:cNvPr id="9220" name="矩形 4"/>
          <p:cNvSpPr>
            <a:spLocks noChangeArrowheads="1"/>
          </p:cNvSpPr>
          <p:nvPr/>
        </p:nvSpPr>
        <p:spPr bwMode="auto">
          <a:xfrm>
            <a:off x="1981200" y="5084764"/>
            <a:ext cx="8229600" cy="14303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註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:MSSQL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資料庫主機 </a:t>
            </a:r>
            <a:r>
              <a:rPr lang="en-US" altLang="zh-TW" sz="1800">
                <a:solidFill>
                  <a:srgbClr val="FF0000"/>
                </a:solidFill>
                <a:ea typeface="新細明體" panose="02020500000000000000" pitchFamily="18" charset="-120"/>
              </a:rPr>
              <a:t>203.68.62.33 ID:Exc/Password/Excpwd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/>
            </a:r>
            <a:b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</a:b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1.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依上圖先手動新增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StudentTbl999, 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設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PK, 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再新增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4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筆資料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/>
            </a:r>
            <a:b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</a:b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2.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以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SQL select * into 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的方法新增一模一樣的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StudentTbl999BK, 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再手動加上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PK</a:t>
            </a:r>
            <a:b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</a:b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3.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模擬有人不小心將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4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筆</a:t>
            </a:r>
            <a:r>
              <a:rPr lang="zh-TW" altLang="en-US" sz="1800">
                <a:solidFill>
                  <a:srgbClr val="FF0000"/>
                </a:solidFill>
                <a:ea typeface="新細明體" panose="02020500000000000000" pitchFamily="18" charset="-120"/>
              </a:rPr>
              <a:t>線上的</a:t>
            </a:r>
            <a:r>
              <a:rPr lang="en-US" altLang="zh-TW" sz="1800">
                <a:solidFill>
                  <a:srgbClr val="FF0000"/>
                </a:solidFill>
                <a:ea typeface="新細明體" panose="02020500000000000000" pitchFamily="18" charset="-120"/>
              </a:rPr>
              <a:t>StudentTbl999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的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chName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全都改成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’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張三之子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4.</a:t>
            </a:r>
            <a:r>
              <a:rPr lang="zh-TW" altLang="en-US" sz="1800">
                <a:solidFill>
                  <a:srgbClr val="FF0000"/>
                </a:solidFill>
                <a:ea typeface="新細明體" panose="02020500000000000000" pitchFamily="18" charset="-120"/>
              </a:rPr>
              <a:t>以備份的資料使用</a:t>
            </a:r>
            <a:r>
              <a:rPr lang="en-US" altLang="zh-TW" sz="1800">
                <a:solidFill>
                  <a:srgbClr val="FF0000"/>
                </a:solidFill>
                <a:ea typeface="新細明體" panose="02020500000000000000" pitchFamily="18" charset="-120"/>
              </a:rPr>
              <a:t>update</a:t>
            </a:r>
            <a:r>
              <a:rPr lang="zh-TW" altLang="en-US" sz="1800">
                <a:solidFill>
                  <a:srgbClr val="FF0000"/>
                </a:solidFill>
                <a:ea typeface="新細明體" panose="02020500000000000000" pitchFamily="18" charset="-120"/>
              </a:rPr>
              <a:t>的方式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, 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將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StudentTbl999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的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chName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的資料救回來</a:t>
            </a:r>
          </a:p>
        </p:txBody>
      </p:sp>
      <p:pic>
        <p:nvPicPr>
          <p:cNvPr id="9221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064" y="1268414"/>
            <a:ext cx="2949575" cy="2797175"/>
          </a:xfrm>
          <a:prstGeom prst="rect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4" y="1268414"/>
            <a:ext cx="4778375" cy="962025"/>
          </a:xfrm>
          <a:prstGeom prst="rect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3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4" y="2465389"/>
            <a:ext cx="4778375" cy="2447925"/>
          </a:xfrm>
          <a:prstGeom prst="rect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03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  <a:t>6.</a:t>
            </a: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0243" name="內容版面配置區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solidFill>
                  <a:srgbClr val="FF0000"/>
                </a:solidFill>
                <a:ea typeface="新細明體" panose="02020500000000000000" pitchFamily="18" charset="-120"/>
              </a:rPr>
              <a:t>Store Procedure</a:t>
            </a:r>
          </a:p>
          <a:p>
            <a:pPr lvl="1"/>
            <a:r>
              <a:rPr lang="zh-TW" altLang="en-US" smtClean="0">
                <a:ea typeface="新細明體" panose="02020500000000000000" pitchFamily="18" charset="-120"/>
              </a:rPr>
              <a:t>將寫好的</a:t>
            </a:r>
            <a:r>
              <a:rPr lang="en-US" altLang="zh-TW" smtClean="0">
                <a:ea typeface="新細明體" panose="02020500000000000000" pitchFamily="18" charset="-120"/>
              </a:rPr>
              <a:t>SQL</a:t>
            </a:r>
            <a:r>
              <a:rPr lang="zh-TW" altLang="en-US" smtClean="0">
                <a:ea typeface="新細明體" panose="02020500000000000000" pitchFamily="18" charset="-120"/>
              </a:rPr>
              <a:t>，儲存在</a:t>
            </a:r>
            <a:r>
              <a:rPr lang="en-US" altLang="zh-TW" smtClean="0">
                <a:ea typeface="新細明體" panose="02020500000000000000" pitchFamily="18" charset="-120"/>
              </a:rPr>
              <a:t>Store Procedure</a:t>
            </a:r>
            <a:r>
              <a:rPr lang="zh-TW" altLang="en-US" smtClean="0">
                <a:ea typeface="新細明體" panose="02020500000000000000" pitchFamily="18" charset="-120"/>
              </a:rPr>
              <a:t>中，以備隨時／方便</a:t>
            </a:r>
            <a:r>
              <a:rPr lang="en-US" altLang="zh-TW" smtClean="0">
                <a:ea typeface="新細明體" panose="02020500000000000000" pitchFamily="18" charset="-120"/>
              </a:rPr>
              <a:t>/</a:t>
            </a:r>
            <a:r>
              <a:rPr lang="zh-TW" altLang="en-US" smtClean="0">
                <a:solidFill>
                  <a:srgbClr val="0000FF"/>
                </a:solidFill>
                <a:ea typeface="新細明體" panose="02020500000000000000" pitchFamily="18" charset="-120"/>
              </a:rPr>
              <a:t>更快速</a:t>
            </a:r>
            <a:r>
              <a:rPr lang="zh-TW" altLang="en-US" smtClean="0">
                <a:ea typeface="新細明體" panose="02020500000000000000" pitchFamily="18" charset="-120"/>
              </a:rPr>
              <a:t>的執行</a:t>
            </a:r>
            <a:r>
              <a:rPr lang="en-US" altLang="zh-TW" smtClean="0">
                <a:ea typeface="新細明體" panose="02020500000000000000" pitchFamily="18" charset="-120"/>
              </a:rPr>
              <a:t> </a:t>
            </a:r>
          </a:p>
          <a:p>
            <a:endParaRPr lang="en-US" altLang="zh-TW" smtClean="0">
              <a:ea typeface="新細明體" panose="02020500000000000000" pitchFamily="18" charset="-120"/>
            </a:endParaRPr>
          </a:p>
          <a:p>
            <a:r>
              <a:rPr lang="en-US" altLang="zh-TW" smtClean="0">
                <a:solidFill>
                  <a:srgbClr val="FF0000"/>
                </a:solidFill>
                <a:ea typeface="新細明體" panose="02020500000000000000" pitchFamily="18" charset="-120"/>
              </a:rPr>
              <a:t>Job</a:t>
            </a:r>
          </a:p>
          <a:p>
            <a:pPr lvl="1"/>
            <a:r>
              <a:rPr lang="zh-TW" altLang="en-US" smtClean="0">
                <a:ea typeface="新細明體" panose="02020500000000000000" pitchFamily="18" charset="-120"/>
              </a:rPr>
              <a:t>因為</a:t>
            </a:r>
            <a:r>
              <a:rPr lang="en-US" altLang="zh-TW" smtClean="0">
                <a:ea typeface="新細明體" panose="02020500000000000000" pitchFamily="18" charset="-120"/>
              </a:rPr>
              <a:t>C107</a:t>
            </a:r>
            <a:r>
              <a:rPr lang="zh-TW" altLang="en-US" smtClean="0">
                <a:ea typeface="新細明體" panose="02020500000000000000" pitchFamily="18" charset="-120"/>
              </a:rPr>
              <a:t>教室的</a:t>
            </a:r>
            <a:r>
              <a:rPr lang="en-US" altLang="zh-TW" smtClean="0">
                <a:ea typeface="新細明體" panose="02020500000000000000" pitchFamily="18" charset="-120"/>
              </a:rPr>
              <a:t>MS SQL</a:t>
            </a:r>
            <a:r>
              <a:rPr lang="zh-TW" altLang="en-US" smtClean="0">
                <a:ea typeface="新細明體" panose="02020500000000000000" pitchFamily="18" charset="-120"/>
              </a:rPr>
              <a:t>版本是</a:t>
            </a:r>
            <a:r>
              <a:rPr lang="en-US" altLang="zh-TW" smtClean="0">
                <a:ea typeface="新細明體" panose="02020500000000000000" pitchFamily="18" charset="-120"/>
              </a:rPr>
              <a:t>Express</a:t>
            </a:r>
            <a:r>
              <a:rPr lang="zh-TW" altLang="en-US" smtClean="0">
                <a:ea typeface="新細明體" panose="02020500000000000000" pitchFamily="18" charset="-120"/>
              </a:rPr>
              <a:t>版所以沒有</a:t>
            </a:r>
            <a:r>
              <a:rPr lang="en-US" altLang="zh-TW" smtClean="0">
                <a:ea typeface="新細明體" panose="02020500000000000000" pitchFamily="18" charset="-120"/>
              </a:rPr>
              <a:t>Job</a:t>
            </a:r>
            <a:r>
              <a:rPr lang="zh-TW" altLang="en-US" smtClean="0">
                <a:ea typeface="新細明體" panose="02020500000000000000" pitchFamily="18" charset="-120"/>
              </a:rPr>
              <a:t>的功能。在</a:t>
            </a:r>
            <a:r>
              <a:rPr lang="en-US" altLang="zh-TW" smtClean="0">
                <a:ea typeface="新細明體" panose="02020500000000000000" pitchFamily="18" charset="-120"/>
              </a:rPr>
              <a:t>Enterprise</a:t>
            </a:r>
            <a:r>
              <a:rPr lang="zh-TW" altLang="en-US" smtClean="0">
                <a:ea typeface="新細明體" panose="02020500000000000000" pitchFamily="18" charset="-120"/>
              </a:rPr>
              <a:t>版中，就可以把</a:t>
            </a:r>
            <a:r>
              <a:rPr lang="en-US" altLang="zh-TW" smtClean="0">
                <a:ea typeface="新細明體" panose="02020500000000000000" pitchFamily="18" charset="-120"/>
              </a:rPr>
              <a:t>SQL </a:t>
            </a:r>
            <a:r>
              <a:rPr lang="zh-TW" altLang="en-US" smtClean="0">
                <a:ea typeface="新細明體" panose="02020500000000000000" pitchFamily="18" charset="-120"/>
              </a:rPr>
              <a:t>或</a:t>
            </a:r>
            <a:r>
              <a:rPr lang="en-US" altLang="zh-TW" smtClean="0">
                <a:ea typeface="新細明體" panose="02020500000000000000" pitchFamily="18" charset="-120"/>
              </a:rPr>
              <a:t>SP. </a:t>
            </a:r>
            <a:r>
              <a:rPr lang="zh-TW" altLang="en-US" smtClean="0">
                <a:solidFill>
                  <a:srgbClr val="0000FF"/>
                </a:solidFill>
                <a:ea typeface="新細明體" panose="02020500000000000000" pitchFamily="18" charset="-120"/>
              </a:rPr>
              <a:t>寫在</a:t>
            </a:r>
            <a:r>
              <a:rPr lang="en-US" altLang="zh-TW" smtClean="0">
                <a:solidFill>
                  <a:srgbClr val="0000FF"/>
                </a:solidFill>
                <a:ea typeface="新細明體" panose="02020500000000000000" pitchFamily="18" charset="-120"/>
              </a:rPr>
              <a:t>Job</a:t>
            </a:r>
            <a:r>
              <a:rPr lang="zh-TW" altLang="en-US" smtClean="0">
                <a:solidFill>
                  <a:srgbClr val="0000FF"/>
                </a:solidFill>
                <a:ea typeface="新細明體" panose="02020500000000000000" pitchFamily="18" charset="-120"/>
              </a:rPr>
              <a:t>中可設定定時執行</a:t>
            </a:r>
            <a:r>
              <a:rPr lang="en-US" altLang="zh-TW" smtClean="0">
                <a:ea typeface="新細明體" panose="02020500000000000000" pitchFamily="18" charset="-120"/>
              </a:rPr>
              <a:t>.</a:t>
            </a: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024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235511BB-EB8D-45AA-9B94-5CA927182427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endParaRPr lang="es-ES" altLang="zh-TW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516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>
                <a:solidFill>
                  <a:srgbClr val="FF0000"/>
                </a:solidFill>
                <a:ea typeface="新細明體" panose="02020500000000000000" pitchFamily="18" charset="-120"/>
              </a:rPr>
              <a:t>使用的</a:t>
            </a:r>
            <a:r>
              <a:rPr lang="en-US" altLang="zh-TW" sz="4000">
                <a:solidFill>
                  <a:srgbClr val="FF0000"/>
                </a:solidFill>
                <a:ea typeface="新細明體" panose="02020500000000000000" pitchFamily="18" charset="-120"/>
              </a:rPr>
              <a:t>SQL(</a:t>
            </a:r>
            <a:r>
              <a:rPr lang="zh-TW" altLang="en-US" sz="4000">
                <a:solidFill>
                  <a:srgbClr val="FF0000"/>
                </a:solidFill>
                <a:ea typeface="新細明體" panose="02020500000000000000" pitchFamily="18" charset="-120"/>
              </a:rPr>
              <a:t>算出當天的進貨總金額</a:t>
            </a:r>
            <a:r>
              <a:rPr lang="en-US" altLang="zh-TW" sz="4000">
                <a:solidFill>
                  <a:srgbClr val="FF0000"/>
                </a:solidFill>
                <a:ea typeface="新細明體" panose="02020500000000000000" pitchFamily="18" charset="-120"/>
              </a:rPr>
              <a:t>)</a:t>
            </a:r>
            <a:endParaRPr lang="zh-TW" altLang="en-US" sz="400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sp>
        <p:nvSpPr>
          <p:cNvPr id="1126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B7E0F876-A74D-46A0-A41D-A1749B30CDA9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6</a:t>
            </a:fld>
            <a:endParaRPr lang="es-ES" altLang="zh-TW" sz="1400">
              <a:solidFill>
                <a:srgbClr val="000000"/>
              </a:solidFill>
            </a:endParaRPr>
          </a:p>
        </p:txBody>
      </p:sp>
      <p:sp>
        <p:nvSpPr>
          <p:cNvPr id="11268" name="矩形 5"/>
          <p:cNvSpPr>
            <a:spLocks noChangeArrowheads="1"/>
          </p:cNvSpPr>
          <p:nvPr/>
        </p:nvSpPr>
        <p:spPr bwMode="auto">
          <a:xfrm>
            <a:off x="1981200" y="1484314"/>
            <a:ext cx="8362950" cy="51133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declare @YYY  char(3) --</a:t>
            </a:r>
            <a:r>
              <a:rPr lang="zh-TW" altLang="en-US" sz="1400">
                <a:solidFill>
                  <a:srgbClr val="000000"/>
                </a:solidFill>
                <a:ea typeface="新細明體" panose="02020500000000000000" pitchFamily="18" charset="-120"/>
              </a:rPr>
              <a:t>今天的民國年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declare @MM  char(2) --</a:t>
            </a:r>
            <a:r>
              <a:rPr lang="zh-TW" altLang="en-US" sz="1400">
                <a:solidFill>
                  <a:srgbClr val="000000"/>
                </a:solidFill>
                <a:ea typeface="新細明體" panose="02020500000000000000" pitchFamily="18" charset="-120"/>
              </a:rPr>
              <a:t>今天的月份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declare @DD  char(2) --</a:t>
            </a:r>
            <a:r>
              <a:rPr lang="zh-TW" altLang="en-US" sz="1400">
                <a:solidFill>
                  <a:srgbClr val="000000"/>
                </a:solidFill>
                <a:ea typeface="新細明體" panose="02020500000000000000" pitchFamily="18" charset="-120"/>
              </a:rPr>
              <a:t>今天的日期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declare @YYYMMDD char(7)--</a:t>
            </a:r>
            <a:r>
              <a:rPr lang="zh-TW" altLang="en-US" sz="1400">
                <a:solidFill>
                  <a:srgbClr val="000000"/>
                </a:solidFill>
                <a:ea typeface="新細明體" panose="02020500000000000000" pitchFamily="18" charset="-120"/>
              </a:rPr>
              <a:t>今天的年月日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4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select @YYY=convert(char(3),year(getdate())-1911)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1400">
                <a:solidFill>
                  <a:srgbClr val="000000"/>
                </a:solidFill>
                <a:ea typeface="新細明體" panose="02020500000000000000" pitchFamily="18" charset="-120"/>
              </a:rPr>
              <a:t>月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select @MM= replicate('0',2-len(rtrim(convert(char(2),month(getdate()))))) + rtrim(convert(char(2),month(getdate())))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1400">
                <a:solidFill>
                  <a:srgbClr val="000000"/>
                </a:solidFill>
                <a:ea typeface="新細明體" panose="02020500000000000000" pitchFamily="18" charset="-120"/>
              </a:rPr>
              <a:t>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select @DD=replicate('0',2-len(rtrim(convert(char(2),day(getdate()))))) + rtrim(convert(char(2),day(getdate())))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select @YYYMMDD=@YYY + @MM + @DD    --</a:t>
            </a:r>
            <a:r>
              <a:rPr lang="zh-TW" altLang="en-US" sz="1400">
                <a:solidFill>
                  <a:srgbClr val="000000"/>
                </a:solidFill>
                <a:ea typeface="新細明體" panose="02020500000000000000" pitchFamily="18" charset="-120"/>
              </a:rPr>
              <a:t>月日</a:t>
            </a:r>
            <a:endParaRPr lang="en-US" altLang="zh-TW" sz="14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print @YYYMMDD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4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SELECT  [chInpDateTime]      ,[chFactNo]      ,[rlInpTotAmt]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  FROM [DB_TEST].[dbo].[InputHeadTbl]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  where left(chInpDateTime,7) = @YYYMMDD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4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  SELECT  left(chInpDateTime,7) as ToDate, sum(rlInpTotAmt)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  FROM [DB_TEST].[dbo].[InputHeadTbl]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  where left(chInpDateTime,7) = @YYYMMDD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>
                <a:solidFill>
                  <a:srgbClr val="000000"/>
                </a:solidFill>
                <a:ea typeface="新細明體" panose="02020500000000000000" pitchFamily="18" charset="-120"/>
              </a:rPr>
              <a:t>  group by left(chInpDateTime,7)</a:t>
            </a:r>
            <a:endParaRPr lang="zh-TW" altLang="en-US" sz="140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088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>
                <a:solidFill>
                  <a:srgbClr val="FF0000"/>
                </a:solidFill>
                <a:ea typeface="新細明體" panose="02020500000000000000" pitchFamily="18" charset="-120"/>
              </a:rPr>
              <a:t>新增 </a:t>
            </a:r>
            <a:r>
              <a:rPr lang="en-US" altLang="zh-TW" smtClean="0">
                <a:solidFill>
                  <a:srgbClr val="FF0000"/>
                </a:solidFill>
                <a:ea typeface="新細明體" panose="02020500000000000000" pitchFamily="18" charset="-120"/>
              </a:rPr>
              <a:t>Store Procedure</a:t>
            </a:r>
            <a:r>
              <a:rPr lang="zh-TW" altLang="en-US" smtClean="0">
                <a:solidFill>
                  <a:srgbClr val="FF0000"/>
                </a:solidFill>
                <a:ea typeface="新細明體" panose="02020500000000000000" pitchFamily="18" charset="-120"/>
              </a:rPr>
              <a:t>的方法</a:t>
            </a:r>
          </a:p>
        </p:txBody>
      </p:sp>
      <p:pic>
        <p:nvPicPr>
          <p:cNvPr id="12291" name="內容版面配置區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3275" y="1600201"/>
            <a:ext cx="8045450" cy="4525963"/>
          </a:xfrm>
        </p:spPr>
      </p:pic>
      <p:sp>
        <p:nvSpPr>
          <p:cNvPr id="1229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361A210F-B53C-4EB7-87F1-80AC34CC4D76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7</a:t>
            </a:fld>
            <a:endParaRPr lang="es-ES" altLang="zh-TW" sz="1400">
              <a:solidFill>
                <a:srgbClr val="000000"/>
              </a:solidFill>
            </a:endParaRPr>
          </a:p>
        </p:txBody>
      </p:sp>
      <p:sp>
        <p:nvSpPr>
          <p:cNvPr id="12293" name="矩形 5"/>
          <p:cNvSpPr>
            <a:spLocks noChangeArrowheads="1"/>
          </p:cNvSpPr>
          <p:nvPr/>
        </p:nvSpPr>
        <p:spPr bwMode="auto">
          <a:xfrm>
            <a:off x="5016501" y="3284538"/>
            <a:ext cx="1655763" cy="144462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80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12294" name="矩形 6"/>
          <p:cNvSpPr>
            <a:spLocks noChangeArrowheads="1"/>
          </p:cNvSpPr>
          <p:nvPr/>
        </p:nvSpPr>
        <p:spPr bwMode="auto">
          <a:xfrm>
            <a:off x="4440238" y="4437063"/>
            <a:ext cx="2303462" cy="144462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80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12295" name="矩形 7"/>
          <p:cNvSpPr>
            <a:spLocks noChangeArrowheads="1"/>
          </p:cNvSpPr>
          <p:nvPr/>
        </p:nvSpPr>
        <p:spPr bwMode="auto">
          <a:xfrm>
            <a:off x="2424113" y="3068638"/>
            <a:ext cx="1295400" cy="144462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80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5468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82612"/>
          </a:xfrm>
        </p:spPr>
        <p:txBody>
          <a:bodyPr/>
          <a:lstStyle/>
          <a:p>
            <a:r>
              <a:rPr lang="zh-TW" altLang="en-US" sz="4000">
                <a:solidFill>
                  <a:srgbClr val="FF0000"/>
                </a:solidFill>
                <a:ea typeface="新細明體" panose="02020500000000000000" pitchFamily="18" charset="-120"/>
              </a:rPr>
              <a:t>完成的</a:t>
            </a:r>
            <a:r>
              <a:rPr lang="en-US" altLang="zh-TW" sz="4000">
                <a:solidFill>
                  <a:srgbClr val="FF0000"/>
                </a:solidFill>
                <a:ea typeface="新細明體" panose="02020500000000000000" pitchFamily="18" charset="-120"/>
              </a:rPr>
              <a:t>SP.</a:t>
            </a:r>
            <a:endParaRPr lang="zh-TW" altLang="en-US" sz="400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sp>
        <p:nvSpPr>
          <p:cNvPr id="13315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114B85AC-C5E4-4182-8D58-22FFEDFED9CE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8</a:t>
            </a:fld>
            <a:endParaRPr lang="es-ES" altLang="zh-TW" sz="1400">
              <a:solidFill>
                <a:srgbClr val="000000"/>
              </a:solidFill>
            </a:endParaRPr>
          </a:p>
        </p:txBody>
      </p:sp>
      <p:sp>
        <p:nvSpPr>
          <p:cNvPr id="13316" name="矩形 5"/>
          <p:cNvSpPr>
            <a:spLocks noChangeArrowheads="1"/>
          </p:cNvSpPr>
          <p:nvPr/>
        </p:nvSpPr>
        <p:spPr bwMode="auto">
          <a:xfrm>
            <a:off x="1981200" y="857250"/>
            <a:ext cx="8362950" cy="5740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ALTER PROCEDURE [dbo].[CalculateYTDIncome_0000]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-- Add the parameters for the stored procedure here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AS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BEGIN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-- SET NOCOUNT ON added to prevent extra result sets from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-- interfering with SELECT statements.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SET NOCOUNT ON;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declare @YYY  char(3) 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今天的民國年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declare @MM  char(2) 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今天的月份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declare @DD  char(2) 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今天的日期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declare @YYYMMDD char(7)--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今天的年月日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declare @YesterdayWestDate datetime--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今天的年月日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select @YesterdayWestDate = getdate()-1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print @YesterdayWestDate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select @YYY=convert(char(3),year(@YesterdayWestDate)-1911)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月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select @MM= replicate('0',2-len(rtrim(convert(char(2),month(@YesterdayWestDate))))) + rtrim(convert(char(2),month(@YesterdayWestDate))) 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select @DD=replicate('0',2-len(rtrim(convert(char(2),day(@YesterdayWestDate))))) + rtrim(convert(char(2),day(@YesterdayWestDate)))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select @YYYMMDD=@YYY + @MM + @DD    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月日</a:t>
            </a:r>
            <a:endParaRPr lang="en-US" altLang="zh-TW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print @YYYMMDD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  SELECT  left(chInpDateTime,7) as ToDate, sum(rlInpTotAmt)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  FROM [DB_TEST].[dbo].[InputHeadTbl]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  where left(chInpDateTime,7) = @YYYMMDD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  group by left(chInpDateTime,7)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END</a:t>
            </a:r>
            <a:endParaRPr lang="zh-TW" altLang="en-US" sz="120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927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>
                <a:ea typeface="新細明體" panose="02020500000000000000" pitchFamily="18" charset="-120"/>
              </a:rPr>
              <a:t>改抓昨天的日期</a:t>
            </a:r>
          </a:p>
        </p:txBody>
      </p:sp>
      <p:sp>
        <p:nvSpPr>
          <p:cNvPr id="14339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74E80516-784E-4BEF-8279-7BA512F7C258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9</a:t>
            </a:fld>
            <a:endParaRPr lang="es-ES" altLang="zh-TW" sz="1400">
              <a:solidFill>
                <a:srgbClr val="000000"/>
              </a:solidFill>
            </a:endParaRPr>
          </a:p>
        </p:txBody>
      </p:sp>
      <p:sp>
        <p:nvSpPr>
          <p:cNvPr id="14340" name="矩形 4"/>
          <p:cNvSpPr>
            <a:spLocks noChangeArrowheads="1"/>
          </p:cNvSpPr>
          <p:nvPr/>
        </p:nvSpPr>
        <p:spPr bwMode="auto">
          <a:xfrm>
            <a:off x="1981200" y="1341438"/>
            <a:ext cx="8229600" cy="482441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declare @YYY  char(3) --</a:t>
            </a:r>
            <a:r>
              <a:rPr lang="zh-TW" altLang="en-US" sz="1600">
                <a:solidFill>
                  <a:srgbClr val="000000"/>
                </a:solidFill>
                <a:ea typeface="新細明體" panose="02020500000000000000" pitchFamily="18" charset="-120"/>
              </a:rPr>
              <a:t>今天的民國年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declare @MM  char(2) --</a:t>
            </a:r>
            <a:r>
              <a:rPr lang="zh-TW" altLang="en-US" sz="1600">
                <a:solidFill>
                  <a:srgbClr val="000000"/>
                </a:solidFill>
                <a:ea typeface="新細明體" panose="02020500000000000000" pitchFamily="18" charset="-120"/>
              </a:rPr>
              <a:t>今天的月份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declare @DD  char(2) --</a:t>
            </a:r>
            <a:r>
              <a:rPr lang="zh-TW" altLang="en-US" sz="1600">
                <a:solidFill>
                  <a:srgbClr val="000000"/>
                </a:solidFill>
                <a:ea typeface="新細明體" panose="02020500000000000000" pitchFamily="18" charset="-120"/>
              </a:rPr>
              <a:t>今天的日期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declare @YYYMMDD char(7)--</a:t>
            </a:r>
            <a:r>
              <a:rPr lang="zh-TW" altLang="en-US" sz="1600">
                <a:solidFill>
                  <a:srgbClr val="000000"/>
                </a:solidFill>
                <a:ea typeface="新細明體" panose="02020500000000000000" pitchFamily="18" charset="-120"/>
              </a:rPr>
              <a:t>昨天的年月日</a:t>
            </a: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(</a:t>
            </a:r>
            <a:r>
              <a:rPr lang="zh-TW" altLang="en-US" sz="1600">
                <a:solidFill>
                  <a:srgbClr val="000000"/>
                </a:solidFill>
                <a:ea typeface="新細明體" panose="02020500000000000000" pitchFamily="18" charset="-120"/>
              </a:rPr>
              <a:t>中國年</a:t>
            </a: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)</a:t>
            </a:r>
            <a:endParaRPr lang="zh-TW" altLang="en-US" sz="16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declare @YesterdayWestDate datetime--</a:t>
            </a:r>
            <a:r>
              <a:rPr lang="zh-TW" altLang="en-US" sz="1600">
                <a:solidFill>
                  <a:srgbClr val="000000"/>
                </a:solidFill>
                <a:ea typeface="新細明體" panose="02020500000000000000" pitchFamily="18" charset="-120"/>
              </a:rPr>
              <a:t>昨天的年月日</a:t>
            </a: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(</a:t>
            </a:r>
            <a:r>
              <a:rPr lang="zh-TW" altLang="en-US" sz="1600">
                <a:solidFill>
                  <a:srgbClr val="000000"/>
                </a:solidFill>
                <a:ea typeface="新細明體" panose="02020500000000000000" pitchFamily="18" charset="-120"/>
              </a:rPr>
              <a:t>西元</a:t>
            </a: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)</a:t>
            </a:r>
            <a:endParaRPr lang="zh-TW" altLang="en-US" sz="16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6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select @YesterdayWestDate = </a:t>
            </a:r>
            <a:r>
              <a:rPr lang="en-US" altLang="zh-TW" sz="1600">
                <a:solidFill>
                  <a:srgbClr val="FF0000"/>
                </a:solidFill>
                <a:ea typeface="新細明體" panose="02020500000000000000" pitchFamily="18" charset="-120"/>
              </a:rPr>
              <a:t>getdate()-1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print @YesterdayWestDate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6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select @YYY=convert(char(3),year</a:t>
            </a:r>
            <a:r>
              <a:rPr lang="en-US" altLang="zh-TW" sz="1600">
                <a:solidFill>
                  <a:srgbClr val="FF0000"/>
                </a:solidFill>
                <a:ea typeface="新細明體" panose="02020500000000000000" pitchFamily="18" charset="-120"/>
              </a:rPr>
              <a:t>(@YesterdayWestDate</a:t>
            </a: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)-1911)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1600">
                <a:solidFill>
                  <a:srgbClr val="000000"/>
                </a:solidFill>
                <a:ea typeface="新細明體" panose="02020500000000000000" pitchFamily="18" charset="-120"/>
              </a:rPr>
              <a:t>月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select @MM= replicate('0',2-len(rtrim(convert(char(2),month(@YesterdayWestDate))))) + rtrim(convert(char(2),month(@YesterdayWestDate)))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1600">
                <a:solidFill>
                  <a:srgbClr val="000000"/>
                </a:solidFill>
                <a:ea typeface="新細明體" panose="02020500000000000000" pitchFamily="18" charset="-120"/>
              </a:rPr>
              <a:t>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select @DD=replicate('0',2-len(rtrim(convert(char(2),day(@YesterdayWestDate))))) + rtrim(convert(char(2),day(@YesterdayWestDate)))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select @YYYMMDD=@YYY + @MM + @DD    --</a:t>
            </a:r>
            <a:r>
              <a:rPr lang="zh-TW" altLang="en-US" sz="1600">
                <a:solidFill>
                  <a:srgbClr val="000000"/>
                </a:solidFill>
                <a:ea typeface="新細明體" panose="02020500000000000000" pitchFamily="18" charset="-120"/>
              </a:rPr>
              <a:t>月日</a:t>
            </a:r>
            <a:endParaRPr lang="en-US" altLang="zh-TW" sz="16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600">
                <a:solidFill>
                  <a:srgbClr val="FF0000"/>
                </a:solidFill>
                <a:ea typeface="新細明體" panose="02020500000000000000" pitchFamily="18" charset="-120"/>
              </a:rPr>
              <a:t>print @YYYMMDD</a:t>
            </a:r>
            <a:endParaRPr lang="zh-TW" altLang="en-US" sz="160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3615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>
                <a:solidFill>
                  <a:srgbClr val="FF0000"/>
                </a:solidFill>
                <a:ea typeface="新細明體" panose="02020500000000000000" pitchFamily="18" charset="-120"/>
              </a:rPr>
              <a:t>使用的</a:t>
            </a:r>
            <a:r>
              <a:rPr lang="en-US" altLang="zh-TW" sz="4000">
                <a:solidFill>
                  <a:srgbClr val="FF0000"/>
                </a:solidFill>
                <a:ea typeface="新細明體" panose="02020500000000000000" pitchFamily="18" charset="-120"/>
              </a:rPr>
              <a:t>SQL(</a:t>
            </a:r>
            <a:r>
              <a:rPr lang="zh-TW" altLang="en-US" sz="4000">
                <a:solidFill>
                  <a:srgbClr val="FF0000"/>
                </a:solidFill>
                <a:ea typeface="新細明體" panose="02020500000000000000" pitchFamily="18" charset="-120"/>
              </a:rPr>
              <a:t>算出昨天的進貨總金額</a:t>
            </a:r>
            <a:r>
              <a:rPr lang="en-US" altLang="zh-TW" sz="4000">
                <a:solidFill>
                  <a:srgbClr val="FF0000"/>
                </a:solidFill>
                <a:ea typeface="新細明體" panose="02020500000000000000" pitchFamily="18" charset="-120"/>
              </a:rPr>
              <a:t>)</a:t>
            </a:r>
            <a:endParaRPr lang="zh-TW" altLang="en-US" sz="400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sp>
        <p:nvSpPr>
          <p:cNvPr id="15363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1BE75905-5871-4147-9322-72B168FAD02D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endParaRPr lang="es-ES" altLang="zh-TW" sz="1400">
              <a:solidFill>
                <a:srgbClr val="000000"/>
              </a:solidFill>
            </a:endParaRPr>
          </a:p>
        </p:txBody>
      </p:sp>
      <p:sp>
        <p:nvSpPr>
          <p:cNvPr id="15364" name="矩形 4"/>
          <p:cNvSpPr>
            <a:spLocks noChangeArrowheads="1"/>
          </p:cNvSpPr>
          <p:nvPr/>
        </p:nvSpPr>
        <p:spPr bwMode="auto">
          <a:xfrm>
            <a:off x="1981200" y="1341439"/>
            <a:ext cx="8229600" cy="518318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declare @YYY  char(3) --</a:t>
            </a:r>
            <a:r>
              <a:rPr lang="zh-TW" altLang="en-US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今天的民國年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declare @MM  char(2) --</a:t>
            </a:r>
            <a:r>
              <a:rPr lang="zh-TW" altLang="en-US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今天的月份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declare @DD  char(2) --</a:t>
            </a:r>
            <a:r>
              <a:rPr lang="zh-TW" altLang="en-US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今天的日期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declare @YYYMMDD char(7)--</a:t>
            </a:r>
            <a:r>
              <a:rPr lang="zh-TW" altLang="en-US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昨天的年月日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(</a:t>
            </a:r>
            <a:r>
              <a:rPr lang="zh-TW" altLang="en-US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中國年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)</a:t>
            </a:r>
            <a:endParaRPr lang="zh-TW" altLang="en-US" sz="14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declare @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YesterdayWestDate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datetime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昨天的年月日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(</a:t>
            </a:r>
            <a:r>
              <a:rPr lang="zh-TW" altLang="en-US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西元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)</a:t>
            </a:r>
            <a:endParaRPr lang="zh-TW" altLang="en-US" sz="14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4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select @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YesterdayWestDate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 = </a:t>
            </a:r>
            <a:r>
              <a:rPr lang="en-US" altLang="zh-TW" sz="14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getdate</a:t>
            </a:r>
            <a:r>
              <a:rPr lang="en-US" altLang="zh-TW" sz="1400" dirty="0">
                <a:solidFill>
                  <a:srgbClr val="FF0000"/>
                </a:solidFill>
                <a:ea typeface="新細明體" panose="02020500000000000000" pitchFamily="18" charset="-120"/>
              </a:rPr>
              <a:t>()-1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print @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YesterdayWestDate</a:t>
            </a:r>
            <a:endParaRPr lang="en-US" altLang="zh-TW" sz="14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4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select @YYY=convert(char(3),year(@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YesterdayWestDate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)-1911)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月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select @MM= replicate('0',2-len(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rtrim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(convert(char(2),month(@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YesterdayWestDate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))))) + 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rtrim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(convert(char(2),month(@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YesterdayWestDate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)))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select @DD=replicate('0',2-len(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rtrim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(convert(char(2),day(@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YesterdayWestDate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))))) + 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rtrim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(convert(char(2),day(@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YesterdayWestDate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)))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select @YYYMMDD=@YYY + @MM + @DD    --</a:t>
            </a:r>
            <a:r>
              <a:rPr lang="zh-TW" altLang="en-US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月日</a:t>
            </a:r>
            <a:endParaRPr lang="en-US" altLang="zh-TW" sz="14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FF0000"/>
                </a:solidFill>
                <a:ea typeface="新細明體" panose="02020500000000000000" pitchFamily="18" charset="-120"/>
              </a:rPr>
              <a:t>print @YYYMMDD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4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  SELECT  left(chInpDateTime,7) as 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ToDate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, sum(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rlInpTotAmt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  FROM [DB_TEST].[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dbo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].[</a:t>
            </a:r>
            <a:r>
              <a:rPr lang="en-US" altLang="zh-TW" sz="1400" dirty="0" err="1">
                <a:solidFill>
                  <a:srgbClr val="000000"/>
                </a:solidFill>
                <a:ea typeface="新細明體" panose="02020500000000000000" pitchFamily="18" charset="-120"/>
              </a:rPr>
              <a:t>InputHeadTbl</a:t>
            </a: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]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  where left(chInpDateTime,7) = </a:t>
            </a:r>
            <a:r>
              <a:rPr lang="en-US" altLang="zh-TW" sz="1400" dirty="0">
                <a:solidFill>
                  <a:srgbClr val="FF0000"/>
                </a:solidFill>
                <a:ea typeface="新細明體" panose="02020500000000000000" pitchFamily="18" charset="-120"/>
              </a:rPr>
              <a:t>@YYYMMDD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400" dirty="0">
                <a:solidFill>
                  <a:srgbClr val="000000"/>
                </a:solidFill>
                <a:ea typeface="新細明體" panose="02020500000000000000" pitchFamily="18" charset="-120"/>
              </a:rPr>
              <a:t>  group by left(chInpDateTime,7)</a:t>
            </a:r>
            <a:endParaRPr lang="zh-TW" altLang="en-US" sz="1400" dirty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377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>
                <a:ea typeface="新細明體" panose="02020500000000000000" pitchFamily="18" charset="-120"/>
              </a:rPr>
              <a:t>上一個</a:t>
            </a:r>
            <a:r>
              <a:rPr lang="en-US" altLang="zh-TW" smtClean="0">
                <a:ea typeface="新細明體" panose="02020500000000000000" pitchFamily="18" charset="-120"/>
              </a:rPr>
              <a:t>SP.</a:t>
            </a:r>
            <a:r>
              <a:rPr lang="zh-TW" altLang="en-US" smtClean="0">
                <a:ea typeface="新細明體" panose="02020500000000000000" pitchFamily="18" charset="-120"/>
              </a:rPr>
              <a:t>分成二層來完成</a:t>
            </a:r>
          </a:p>
        </p:txBody>
      </p:sp>
      <p:sp>
        <p:nvSpPr>
          <p:cNvPr id="1638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1BA5D0E5-2409-4D11-9202-2BD484E71CE6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11</a:t>
            </a:fld>
            <a:endParaRPr lang="es-ES" altLang="zh-TW" sz="1400">
              <a:solidFill>
                <a:srgbClr val="000000"/>
              </a:solidFill>
            </a:endParaRPr>
          </a:p>
        </p:txBody>
      </p:sp>
      <p:sp>
        <p:nvSpPr>
          <p:cNvPr id="16388" name="矩形 4"/>
          <p:cNvSpPr>
            <a:spLocks noChangeArrowheads="1"/>
          </p:cNvSpPr>
          <p:nvPr/>
        </p:nvSpPr>
        <p:spPr bwMode="auto">
          <a:xfrm>
            <a:off x="1981200" y="1341439"/>
            <a:ext cx="8229600" cy="518318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ALTER PROCEDURE [dbo].[</a:t>
            </a:r>
            <a:r>
              <a:rPr lang="en-US" altLang="zh-TW" sz="1200">
                <a:solidFill>
                  <a:srgbClr val="FF0000"/>
                </a:solidFill>
                <a:ea typeface="新細明體" panose="02020500000000000000" pitchFamily="18" charset="-120"/>
              </a:rPr>
              <a:t>Main_0000]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-- Add the parameters for the stored procedure here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AS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BEGIN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declare @YYY  char(3) 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今天的民國年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declare @MM  char(2) 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今天的月份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declare @DD  char(2) 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今天的日期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declare @YYYMMDD char(7)--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今天的年月日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declare @YesterdayWestDate datetime--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今天的年月日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select @YesterdayWestDate = getdate()-1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print @YesterdayWestDate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select @YYY=convert(char(3),year(@YesterdayWestDate)-1911)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月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select @MM= replicate('0',2-len(rtrim(convert(char(2),month(@YesterdayWestDate))))) + rtrim(convert(char(2),month(@YesterdayWestDate)))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日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select @DD=replicate('0',2-len(rtrim(convert(char(2),day(@YesterdayWestDate))))) + rtrim(convert(char(2),day(@YesterdayWestDate)))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select @YYYMMDD=@YYY + @MM + @DD    --</a:t>
            </a:r>
            <a:r>
              <a:rPr lang="zh-TW" altLang="en-US" sz="1200">
                <a:solidFill>
                  <a:srgbClr val="000000"/>
                </a:solidFill>
                <a:ea typeface="新細明體" panose="02020500000000000000" pitchFamily="18" charset="-120"/>
              </a:rPr>
              <a:t>月日</a:t>
            </a:r>
            <a:endParaRPr lang="en-US" altLang="zh-TW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print @YYYMMDD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FF0000"/>
                </a:solidFill>
                <a:ea typeface="新細明體" panose="02020500000000000000" pitchFamily="18" charset="-120"/>
              </a:rPr>
              <a:t>exec GetDayInpSum_0000 @YYYMMDD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2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200">
                <a:solidFill>
                  <a:srgbClr val="000000"/>
                </a:solidFill>
                <a:ea typeface="新細明體" panose="02020500000000000000" pitchFamily="18" charset="-120"/>
              </a:rPr>
              <a:t>END</a:t>
            </a:r>
            <a:endParaRPr lang="zh-TW" altLang="en-US" sz="120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636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標題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>
                <a:solidFill>
                  <a:srgbClr val="FF0000"/>
                </a:solidFill>
                <a:ea typeface="新細明體" panose="02020500000000000000" pitchFamily="18" charset="-120"/>
              </a:rPr>
              <a:t>被呼叫的</a:t>
            </a:r>
            <a:r>
              <a:rPr lang="en-US" altLang="zh-TW" sz="4000">
                <a:solidFill>
                  <a:srgbClr val="FF0000"/>
                </a:solidFill>
                <a:ea typeface="新細明體" panose="02020500000000000000" pitchFamily="18" charset="-120"/>
              </a:rPr>
              <a:t>SP. (</a:t>
            </a:r>
            <a:r>
              <a:rPr lang="zh-TW" altLang="en-US" sz="4000">
                <a:solidFill>
                  <a:srgbClr val="FF0000"/>
                </a:solidFill>
                <a:ea typeface="新細明體" panose="02020500000000000000" pitchFamily="18" charset="-120"/>
              </a:rPr>
              <a:t>接上一層傳來參數</a:t>
            </a:r>
            <a:r>
              <a:rPr lang="en-US" altLang="zh-TW" sz="4000">
                <a:solidFill>
                  <a:srgbClr val="FF0000"/>
                </a:solidFill>
                <a:ea typeface="新細明體" panose="02020500000000000000" pitchFamily="18" charset="-120"/>
              </a:rPr>
              <a:t>)</a:t>
            </a:r>
            <a:endParaRPr lang="zh-TW" altLang="en-US" sz="400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sp>
        <p:nvSpPr>
          <p:cNvPr id="17411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37EAD4E3-0F04-47FD-92CA-DECC23F6DE08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12</a:t>
            </a:fld>
            <a:endParaRPr lang="es-ES" altLang="zh-TW" sz="1400">
              <a:solidFill>
                <a:srgbClr val="000000"/>
              </a:solidFill>
            </a:endParaRPr>
          </a:p>
        </p:txBody>
      </p:sp>
      <p:sp>
        <p:nvSpPr>
          <p:cNvPr id="17412" name="矩形 4"/>
          <p:cNvSpPr>
            <a:spLocks noChangeArrowheads="1"/>
          </p:cNvSpPr>
          <p:nvPr/>
        </p:nvSpPr>
        <p:spPr bwMode="auto">
          <a:xfrm>
            <a:off x="1981200" y="1700213"/>
            <a:ext cx="8229600" cy="482441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ALTER PROCEDURE [dbo].[GetDayInpSum_0000]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-- Add the parameters for the stored procedure here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FF0000"/>
                </a:solidFill>
                <a:ea typeface="新細明體" panose="02020500000000000000" pitchFamily="18" charset="-120"/>
              </a:rPr>
              <a:t>@Date as char(7)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8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AS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BEGIN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-- SET NOCOUNT ON added to prevent extra result sets from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-- interfering with SELECT statements.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SET NOCOUNT ON;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8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  SELECT  left(chInpDateTime,7) as ToDate, sum(rlInpTotAmt)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  FROM [DB_TEST].[dbo].[InputHeadTbl]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  where left(chInpDateTime,7) = </a:t>
            </a:r>
            <a:r>
              <a:rPr lang="en-US" altLang="zh-TW" sz="1800">
                <a:solidFill>
                  <a:srgbClr val="FF0000"/>
                </a:solidFill>
                <a:ea typeface="新細明體" panose="02020500000000000000" pitchFamily="18" charset="-120"/>
              </a:rPr>
              <a:t>@Date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  group by left(chInpDateTime,7)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8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END</a:t>
            </a:r>
            <a:endParaRPr lang="zh-TW" altLang="en-US" sz="140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1568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  <a:t>7.</a:t>
            </a: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8435" name="內容版面配置區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mtClean="0">
                <a:solidFill>
                  <a:srgbClr val="FF0000"/>
                </a:solidFill>
                <a:ea typeface="新細明體" panose="02020500000000000000" pitchFamily="18" charset="-120"/>
              </a:rPr>
              <a:t>二層的</a:t>
            </a:r>
            <a:r>
              <a:rPr lang="en-US" altLang="zh-TW" smtClean="0">
                <a:solidFill>
                  <a:srgbClr val="FF0000"/>
                </a:solidFill>
                <a:ea typeface="新細明體" panose="02020500000000000000" pitchFamily="18" charset="-120"/>
              </a:rPr>
              <a:t>CURSOR</a:t>
            </a:r>
            <a:r>
              <a:rPr lang="zh-TW" altLang="en-US" smtClean="0">
                <a:solidFill>
                  <a:srgbClr val="FF0000"/>
                </a:solidFill>
                <a:ea typeface="新細明體" panose="02020500000000000000" pitchFamily="18" charset="-120"/>
              </a:rPr>
              <a:t>，作成的迴圈</a:t>
            </a:r>
            <a:endParaRPr lang="en-US" altLang="zh-TW" smtClean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sp>
        <p:nvSpPr>
          <p:cNvPr id="1843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4829EAD8-D94E-4166-BAAB-69F7AB79C8F5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13</a:t>
            </a:fld>
            <a:endParaRPr lang="es-ES" altLang="zh-TW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52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D6E49150-45A2-4BC2-B534-3F837F01DC93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14</a:t>
            </a:fld>
            <a:endParaRPr lang="es-ES" altLang="zh-TW" sz="1400">
              <a:solidFill>
                <a:srgbClr val="000000"/>
              </a:solidFill>
            </a:endParaRPr>
          </a:p>
        </p:txBody>
      </p:sp>
      <p:sp>
        <p:nvSpPr>
          <p:cNvPr id="19459" name="矩形 2"/>
          <p:cNvSpPr>
            <a:spLocks noChangeArrowheads="1"/>
          </p:cNvSpPr>
          <p:nvPr/>
        </p:nvSpPr>
        <p:spPr bwMode="auto">
          <a:xfrm>
            <a:off x="1919288" y="300039"/>
            <a:ext cx="8424862" cy="61928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/*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以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SQL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讀出某一天的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HEAD,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及當天的細項 *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/</a:t>
            </a:r>
            <a:endParaRPr lang="zh-TW" altLang="en-US" sz="8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第一層用到的變數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HEAD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@chInpDateTime as char(13)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@chFactNo as char(10)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@rlInpTotAmt as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numeric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@mCounter as int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select @mCounter = 1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第二層用到的變數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DETAIL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@chProdNo as char(13)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@rlInpQty as real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@rlInpPrice as numeric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@rlInpAmt as numeric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@mCounter_2 as int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--1.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宣告及定義第一層的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: HEAD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33CC"/>
                </a:solidFill>
                <a:ea typeface="新細明體" panose="02020500000000000000" pitchFamily="18" charset="-120"/>
              </a:rPr>
              <a:t>DECLARE Print_Order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FOR select </a:t>
            </a:r>
            <a:r>
              <a:rPr lang="en-US" altLang="zh-TW" sz="800">
                <a:solidFill>
                  <a:srgbClr val="0000FF"/>
                </a:solidFill>
                <a:ea typeface="新細明體" panose="02020500000000000000" pitchFamily="18" charset="-120"/>
              </a:rPr>
              <a:t>chInpDateTime, chFactNo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,  rlInpTotAmt  FROM </a:t>
            </a:r>
            <a:r>
              <a:rPr lang="en-US" altLang="zh-TW" sz="800">
                <a:solidFill>
                  <a:srgbClr val="0000FF"/>
                </a:solidFill>
                <a:ea typeface="新細明體" panose="02020500000000000000" pitchFamily="18" charset="-120"/>
              </a:rPr>
              <a:t>[DB_TEST].[dbo].[InputHeadTbl]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where chInpDateTime like '1110311%'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OPEN Print_Order--2.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打開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: HEAD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FF"/>
                </a:solidFill>
                <a:ea typeface="新細明體" panose="02020500000000000000" pitchFamily="18" charset="-120"/>
              </a:rPr>
              <a:t>fetch next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from Print_Order into @chInpDateTime , @chFactNo ,@rlInpTotAmt  --3.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從現在的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,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讀資料到變數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while  (@@FETCH_STATUS&lt;&gt;-1)--4.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迴圈判斷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成功讀取狀態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0,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讀到檔底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(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或讀不到資料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)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狀態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-1</a:t>
            </a:r>
            <a:endParaRPr lang="zh-TW" altLang="en-US" sz="8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begin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print 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筆數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rtrim(convert(char(5), @mCounter))  + '  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日期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convert(char(7), left(@chInpDateTime,7))  + '  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廠商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@chFactNo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  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進貨總金額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convert(char(10), @rlInpTotAmt)--5.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顯示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HEAD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資料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it-IT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print replicate('-',8) + space(2) + replicate('-',14) + space(2) + replicate('-',15) + space(2) + replicate('-',20) + space(2) + replicate('-',15)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  + space(2) + replicate('-',15)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7030A0"/>
                </a:solidFill>
                <a:ea typeface="新細明體" panose="02020500000000000000" pitchFamily="18" charset="-120"/>
              </a:rPr>
              <a:t>DECLARE Print_Detail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CURSOR FOR--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一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.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宣告及定義第二層的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CURSOR : DETAIL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SELECT chProdNo,rlInpQty,rlInpPrice,rlInpAmt  FROM </a:t>
            </a:r>
            <a:r>
              <a:rPr lang="en-US" altLang="zh-TW" sz="800">
                <a:solidFill>
                  <a:srgbClr val="7030A0"/>
                </a:solidFill>
                <a:ea typeface="新細明體" panose="02020500000000000000" pitchFamily="18" charset="-120"/>
              </a:rPr>
              <a:t>DB_TEST.dbo.InputDetailTbl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 where chInpDateTime = </a:t>
            </a:r>
            <a:r>
              <a:rPr lang="en-US" altLang="zh-TW" sz="800">
                <a:solidFill>
                  <a:srgbClr val="7030A0"/>
                </a:solidFill>
                <a:ea typeface="新細明體" panose="02020500000000000000" pitchFamily="18" charset="-120"/>
              </a:rPr>
              <a:t>@chInpDateTime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and chFactNo= </a:t>
            </a:r>
            <a:r>
              <a:rPr lang="en-US" altLang="zh-TW" sz="800">
                <a:solidFill>
                  <a:srgbClr val="7030A0"/>
                </a:solidFill>
                <a:ea typeface="新細明體" panose="02020500000000000000" pitchFamily="18" charset="-120"/>
              </a:rPr>
              <a:t>@chFactNo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select @mCounter_2 = 1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OPEN Print_Detail--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二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.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打開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CURSOR : DETAIL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7030A0"/>
                </a:solidFill>
                <a:ea typeface="新細明體" panose="02020500000000000000" pitchFamily="18" charset="-120"/>
              </a:rPr>
              <a:t>fetch next from Print_Detail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into @chProdNo , @rlInpQty ,@rlInpPrice, @rlInpAmt  --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三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.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從現在的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CURSOR ,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讀資料到變數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while  (@@FETCH_STATUS&lt;&gt;-1)--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四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.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迴圈判斷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: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成功讀取狀態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0,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讀到檔底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(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或讀不到資料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)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狀態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-1</a:t>
            </a:r>
            <a:endParaRPr lang="zh-TW" altLang="en-US" sz="80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begin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print space(10) + '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細項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rtrim(convert(char(3), @mCounter_2))  + space(9) + '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產品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left(@chProdNo, 10) 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'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單項金額  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convert(char(10), @rlInpAmt) +  '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進貨數量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convert(char(5), @rlInpQty) + space(2)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'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進貨單價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 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convert(char(10), @rlInpPrice)--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五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.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顯示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: DETAIL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資料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80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select @mCounter_2 = @mCounter_2 + 1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7030A0"/>
                </a:solidFill>
                <a:ea typeface="新細明體" panose="02020500000000000000" pitchFamily="18" charset="-120"/>
              </a:rPr>
              <a:t>fetch next from Print_Detail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into @chProdNo , @rlInpQty ,@rlInpPrice, @rlInpAmt--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六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.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重覆動作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(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三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)</a:t>
            </a:r>
            <a:endParaRPr lang="zh-TW" altLang="en-US" sz="80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end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print ''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CLOSE  Print_Detail--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七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.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關閉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CURSOR : DETAIL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DEALLOCATE  Print_Detail--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八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. </a:t>
            </a:r>
            <a:r>
              <a:rPr lang="zh-TW" altLang="en-US" sz="800">
                <a:solidFill>
                  <a:srgbClr val="FF0000"/>
                </a:solidFill>
                <a:ea typeface="新細明體" panose="02020500000000000000" pitchFamily="18" charset="-120"/>
              </a:rPr>
              <a:t>清除 </a:t>
            </a:r>
            <a:r>
              <a:rPr lang="en-US" altLang="zh-TW" sz="800">
                <a:solidFill>
                  <a:srgbClr val="FF0000"/>
                </a:solidFill>
                <a:ea typeface="新細明體" panose="02020500000000000000" pitchFamily="18" charset="-120"/>
              </a:rPr>
              <a:t>CURSOR : DETAIL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select @mCounter = @mCounter + 1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FF"/>
                </a:solidFill>
                <a:ea typeface="新細明體" panose="02020500000000000000" pitchFamily="18" charset="-120"/>
              </a:rPr>
              <a:t>fetch next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from Print_Order into @chInpDateTime , @chFactNo ,@rlInpTotAmt--  6.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重覆動作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(3)</a:t>
            </a:r>
            <a:endParaRPr lang="zh-TW" altLang="en-US" sz="8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end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CLOSE  Print_Order-- 7.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關閉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: HEAD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DEALLOCATE  Print_Order-- 8.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清除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: HEAD</a:t>
            </a:r>
            <a:endParaRPr lang="zh-TW" altLang="en-US" sz="80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19460" name="橢圓 1"/>
          <p:cNvSpPr>
            <a:spLocks noChangeArrowheads="1"/>
          </p:cNvSpPr>
          <p:nvPr/>
        </p:nvSpPr>
        <p:spPr bwMode="auto">
          <a:xfrm>
            <a:off x="7418389" y="549275"/>
            <a:ext cx="2592387" cy="935038"/>
          </a:xfrm>
          <a:prstGeom prst="ellipse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二層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CURSOR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完整的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SQL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語法</a:t>
            </a:r>
          </a:p>
        </p:txBody>
      </p:sp>
      <p:sp>
        <p:nvSpPr>
          <p:cNvPr id="19461" name="矩形 4"/>
          <p:cNvSpPr>
            <a:spLocks noChangeArrowheads="1"/>
          </p:cNvSpPr>
          <p:nvPr/>
        </p:nvSpPr>
        <p:spPr bwMode="auto">
          <a:xfrm>
            <a:off x="6816726" y="4764088"/>
            <a:ext cx="3465513" cy="168910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80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pic>
        <p:nvPicPr>
          <p:cNvPr id="19462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5300663"/>
            <a:ext cx="3225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橢圓 5"/>
          <p:cNvSpPr>
            <a:spLocks noChangeArrowheads="1"/>
          </p:cNvSpPr>
          <p:nvPr/>
        </p:nvSpPr>
        <p:spPr bwMode="auto">
          <a:xfrm>
            <a:off x="7253289" y="4797425"/>
            <a:ext cx="2592387" cy="5143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執行結果</a:t>
            </a:r>
          </a:p>
        </p:txBody>
      </p:sp>
    </p:spTree>
    <p:extLst>
      <p:ext uri="{BB962C8B-B14F-4D97-AF65-F5344CB8AC3E}">
        <p14:creationId xmlns:p14="http://schemas.microsoft.com/office/powerpoint/2010/main" val="3527518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/>
          <p:cNvSpPr>
            <a:spLocks noGrp="1" noChangeArrowheads="1"/>
          </p:cNvSpPr>
          <p:nvPr>
            <p:ph type="ctrTitle"/>
          </p:nvPr>
        </p:nvSpPr>
        <p:spPr>
          <a:xfrm>
            <a:off x="2135188" y="1122363"/>
            <a:ext cx="7993062" cy="2387600"/>
          </a:xfrm>
        </p:spPr>
        <p:txBody>
          <a:bodyPr/>
          <a:lstStyle/>
          <a:p>
            <a:r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刪掉上一頁中</a:t>
            </a:r>
            <a:r>
              <a:rPr lang="zh-TW" altLang="en-US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紅字</a:t>
            </a:r>
            <a:r>
              <a:rPr lang="en-US" altLang="zh-TW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內層的</a:t>
            </a:r>
            <a:r>
              <a:rPr lang="en-US" altLang="zh-TW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CURSOR</a:t>
            </a:r>
            <a:r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483" name="副標題 2"/>
          <p:cNvSpPr>
            <a:spLocks noGrp="1" noChangeArrowheads="1"/>
          </p:cNvSpPr>
          <p:nvPr>
            <p:ph type="subTitle" idx="1"/>
          </p:nvPr>
        </p:nvSpPr>
        <p:spPr>
          <a:xfrm>
            <a:off x="2703513" y="5013326"/>
            <a:ext cx="6858000" cy="892175"/>
          </a:xfrm>
        </p:spPr>
        <p:txBody>
          <a:bodyPr/>
          <a:lstStyle/>
          <a:p>
            <a:r>
              <a:rPr lang="zh-TW" altLang="en-US" b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單純只執行一層</a:t>
            </a:r>
            <a:r>
              <a:rPr lang="en-US" altLang="zh-TW" b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b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外層</a:t>
            </a:r>
            <a:r>
              <a:rPr lang="en-US" altLang="zh-TW" b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)CURSOR</a:t>
            </a:r>
            <a:endParaRPr lang="zh-TW" altLang="en-US" b="1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48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103E3E57-7108-418D-84A4-293932B0297D}" type="slidenum">
              <a:rPr lang="es-ES" altLang="zh-TW" sz="1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15</a:t>
            </a:fld>
            <a:endParaRPr lang="es-ES" altLang="zh-TW" sz="140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6647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24F389B6-95A9-4A62-842E-E3D27488FD3E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16</a:t>
            </a:fld>
            <a:endParaRPr lang="es-ES" altLang="zh-TW" sz="1400">
              <a:solidFill>
                <a:srgbClr val="000000"/>
              </a:solidFill>
            </a:endParaRPr>
          </a:p>
        </p:txBody>
      </p:sp>
      <p:sp>
        <p:nvSpPr>
          <p:cNvPr id="21507" name="矩形 2"/>
          <p:cNvSpPr>
            <a:spLocks noChangeArrowheads="1"/>
          </p:cNvSpPr>
          <p:nvPr/>
        </p:nvSpPr>
        <p:spPr bwMode="auto">
          <a:xfrm>
            <a:off x="1919288" y="300039"/>
            <a:ext cx="8424862" cy="61928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/*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以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SQL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讀出某一天的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HEAD,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及當天的細項 *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/</a:t>
            </a:r>
            <a:endParaRPr lang="zh-TW" altLang="en-US" sz="8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第一層用到的變數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HEAD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@chInpDateTime as char(13)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@chFactNo as char(10)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@rlInpTotAmt as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numeric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@mCounter as int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select @mCounter = 1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--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第二層用到的變數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DETAIL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@chProdNo as char(13)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@rlInpQty as real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@rlInpPrice as numeric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@rlInpAmt as numeric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Declare @mCounter_2 as int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--1.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宣告及定義第一層的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: HEAD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33CC"/>
                </a:solidFill>
                <a:ea typeface="新細明體" panose="02020500000000000000" pitchFamily="18" charset="-120"/>
              </a:rPr>
              <a:t>DECLARE Print_Order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FOR select </a:t>
            </a:r>
            <a:r>
              <a:rPr lang="en-US" altLang="zh-TW" sz="800">
                <a:solidFill>
                  <a:srgbClr val="0000FF"/>
                </a:solidFill>
                <a:ea typeface="新細明體" panose="02020500000000000000" pitchFamily="18" charset="-120"/>
              </a:rPr>
              <a:t>chInpDateTime, chFactNo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,  rlInpTotAmt  FROM </a:t>
            </a:r>
            <a:r>
              <a:rPr lang="en-US" altLang="zh-TW" sz="800">
                <a:solidFill>
                  <a:srgbClr val="0000FF"/>
                </a:solidFill>
                <a:ea typeface="新細明體" panose="02020500000000000000" pitchFamily="18" charset="-120"/>
              </a:rPr>
              <a:t>[DB_TEST].[dbo].[InputHeadTbl]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where chInpDateTime like '1110311%'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OPEN Print_Order--2.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打開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: HEAD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FF"/>
                </a:solidFill>
                <a:ea typeface="新細明體" panose="02020500000000000000" pitchFamily="18" charset="-120"/>
              </a:rPr>
              <a:t>fetch next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from Print_Order into @chInpDateTime , @chFactNo ,@rlInpTotAmt  --3.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從現在的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,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讀資料到變數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while  (@@FETCH_STATUS&lt;&gt;-1)--4.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迴圈判斷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成功讀取狀態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0,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讀到檔底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(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或讀不到資料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)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狀態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-1</a:t>
            </a:r>
            <a:endParaRPr lang="zh-TW" altLang="en-US" sz="8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begin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print 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筆數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rtrim(convert(char(5), @mCounter))  + '  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日期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convert(char(7), left(@chInpDateTime,7))  + '  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廠商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@chFactNo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  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進貨總金額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'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+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convert(char(10), @rlInpTotAmt)--5.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顯示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: HEAD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資料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it-IT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print replicate('-',8) + space(2) + replicate('-',14) + space(2) + replicate('-',15) + space(2) + replicate('-',20) + space(2) + replicate('-',15)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  + space(2) + replicate('-',15)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select @mCounter = @mCounter + 1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FF"/>
                </a:solidFill>
                <a:ea typeface="新細明體" panose="02020500000000000000" pitchFamily="18" charset="-120"/>
              </a:rPr>
              <a:t>fetch next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from Print_Order into @chInpDateTime , @chFactNo ,@rlInpTotAmt--  6.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重覆動作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(3)</a:t>
            </a:r>
            <a:endParaRPr lang="zh-TW" altLang="en-US" sz="80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end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CLOSE  Print_Order-- 7.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關閉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: HEAD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DEALLOCATE  Print_Order-- 8. </a:t>
            </a:r>
            <a:r>
              <a:rPr lang="zh-TW" altLang="en-US" sz="800">
                <a:solidFill>
                  <a:srgbClr val="000000"/>
                </a:solidFill>
                <a:ea typeface="新細明體" panose="02020500000000000000" pitchFamily="18" charset="-120"/>
              </a:rPr>
              <a:t>清除 </a:t>
            </a:r>
            <a:r>
              <a:rPr lang="en-US" altLang="zh-TW" sz="800">
                <a:solidFill>
                  <a:srgbClr val="000000"/>
                </a:solidFill>
                <a:ea typeface="新細明體" panose="02020500000000000000" pitchFamily="18" charset="-120"/>
              </a:rPr>
              <a:t>CURSOR : HEAD</a:t>
            </a:r>
            <a:endParaRPr lang="zh-TW" altLang="en-US" sz="80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21508" name="橢圓 1"/>
          <p:cNvSpPr>
            <a:spLocks noChangeArrowheads="1"/>
          </p:cNvSpPr>
          <p:nvPr/>
        </p:nvSpPr>
        <p:spPr bwMode="auto">
          <a:xfrm>
            <a:off x="7418389" y="549275"/>
            <a:ext cx="2592387" cy="935038"/>
          </a:xfrm>
          <a:prstGeom prst="ellipse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一層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CURSOR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的</a:t>
            </a:r>
            <a:r>
              <a:rPr lang="en-US" altLang="zh-TW" sz="1800">
                <a:solidFill>
                  <a:srgbClr val="000000"/>
                </a:solidFill>
                <a:ea typeface="新細明體" panose="02020500000000000000" pitchFamily="18" charset="-120"/>
              </a:rPr>
              <a:t>SQL</a:t>
            </a: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語法</a:t>
            </a:r>
          </a:p>
        </p:txBody>
      </p:sp>
      <p:sp>
        <p:nvSpPr>
          <p:cNvPr id="21509" name="矩形 4"/>
          <p:cNvSpPr>
            <a:spLocks noChangeArrowheads="1"/>
          </p:cNvSpPr>
          <p:nvPr/>
        </p:nvSpPr>
        <p:spPr bwMode="auto">
          <a:xfrm>
            <a:off x="6816726" y="4764088"/>
            <a:ext cx="3465513" cy="168910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endParaRPr lang="zh-TW" altLang="en-US" sz="180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21510" name="橢圓 5"/>
          <p:cNvSpPr>
            <a:spLocks noChangeArrowheads="1"/>
          </p:cNvSpPr>
          <p:nvPr/>
        </p:nvSpPr>
        <p:spPr bwMode="auto">
          <a:xfrm>
            <a:off x="7253289" y="4797425"/>
            <a:ext cx="2592387" cy="5143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1800">
                <a:solidFill>
                  <a:srgbClr val="000000"/>
                </a:solidFill>
                <a:ea typeface="新細明體" panose="02020500000000000000" pitchFamily="18" charset="-120"/>
              </a:rPr>
              <a:t>執行結果</a:t>
            </a:r>
          </a:p>
        </p:txBody>
      </p:sp>
      <p:pic>
        <p:nvPicPr>
          <p:cNvPr id="21511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5" y="5300664"/>
            <a:ext cx="2865438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3836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標題 1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3412"/>
          </a:xfrm>
        </p:spPr>
        <p:txBody>
          <a:bodyPr/>
          <a:lstStyle/>
          <a:p>
            <a:r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  <a:t>8.</a:t>
            </a: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22531" name="內容版面配置區 2"/>
          <p:cNvSpPr>
            <a:spLocks noGrp="1"/>
          </p:cNvSpPr>
          <p:nvPr>
            <p:ph idx="1"/>
          </p:nvPr>
        </p:nvSpPr>
        <p:spPr>
          <a:xfrm>
            <a:off x="1993900" y="908051"/>
            <a:ext cx="8229600" cy="5649913"/>
          </a:xfrm>
        </p:spPr>
        <p:txBody>
          <a:bodyPr/>
          <a:lstStyle/>
          <a:p>
            <a:pPr>
              <a:defRPr/>
            </a:pP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手動新增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個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Table</a:t>
            </a:r>
          </a:p>
          <a:p>
            <a:pPr lvl="1">
              <a:defRPr/>
            </a:pP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FactoryTbl_999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>
              <a:defRPr/>
            </a:pP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ProductTbl_999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>
              <a:defRPr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再加上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PK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 index</a:t>
            </a:r>
          </a:p>
          <a:p>
            <a:pPr lvl="2">
              <a:defRPr/>
            </a:pPr>
            <a:r>
              <a:rPr lang="en-US" altLang="zh-TW" sz="200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Insert into </a:t>
            </a:r>
            <a:r>
              <a:rPr lang="en-US" altLang="zh-TW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FactoryTbl_999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select * from </a:t>
            </a:r>
            <a:r>
              <a:rPr lang="en-US" altLang="zh-TW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FactoryTbl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>
              <a:defRPr/>
            </a:pPr>
            <a:r>
              <a:rPr lang="en-US" altLang="zh-TW" sz="200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Insert into </a:t>
            </a:r>
            <a:r>
              <a:rPr lang="en-US" altLang="zh-TW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ProductTbl_999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select * from </a:t>
            </a:r>
            <a:r>
              <a:rPr lang="en-US" altLang="zh-TW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ProductTbl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defRPr/>
            </a:pP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指付新增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複製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)2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個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Table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>
              <a:defRPr/>
            </a:pP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InputHeadTbl_999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>
              <a:defRPr/>
            </a:pP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InputDetailTbl_999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>
              <a:defRPr/>
            </a:pPr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Select * into </a:t>
            </a:r>
            <a:r>
              <a:rPr lang="en-US" altLang="zh-TW" sz="2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InputHeadTbl_999</a:t>
            </a:r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 from </a:t>
            </a:r>
            <a:r>
              <a:rPr lang="en-US" altLang="zh-TW" sz="2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endParaRPr lang="en-US" altLang="zh-TW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>
              <a:defRPr/>
            </a:pP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Select * into </a:t>
            </a:r>
            <a:r>
              <a:rPr lang="en-US" altLang="zh-TW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InputDetailTbl_999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from </a:t>
            </a:r>
            <a:r>
              <a:rPr lang="en-US" altLang="zh-TW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InputDetailTbl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3">
              <a:defRPr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再加上</a:t>
            </a:r>
            <a:r>
              <a:rPr lang="en-US" altLang="zh-TW" sz="1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PK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, index</a:t>
            </a:r>
          </a:p>
          <a:p>
            <a:pPr lvl="2">
              <a:defRPr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  <a:defRPr/>
            </a:pP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53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CCA62BFD-8941-462A-AF03-77EDD80B6F7D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17</a:t>
            </a:fld>
            <a:endParaRPr lang="es-ES" altLang="zh-TW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4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期末</a:t>
            </a:r>
            <a:r>
              <a:rPr lang="en-US" altLang="zh-TW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要求</a:t>
            </a:r>
            <a:endParaRPr lang="zh-TW" altLang="en-US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555" name="內容版面配置區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指定日期範圍的</a:t>
            </a:r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select ( left join, inner join)</a:t>
            </a:r>
          </a:p>
          <a:p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2.count</a:t>
            </a:r>
            <a:r>
              <a:rPr lang="zh-TW" altLang="en-US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個數</a:t>
            </a:r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, sum </a:t>
            </a:r>
            <a:r>
              <a:rPr lang="zh-TW" altLang="en-US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總金額</a:t>
            </a:r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3.delete</a:t>
            </a:r>
            <a:r>
              <a:rPr lang="zh-TW" altLang="en-US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update</a:t>
            </a:r>
            <a:r>
              <a:rPr lang="zh-TW" altLang="en-US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insert </a:t>
            </a:r>
            <a:r>
              <a:rPr lang="zh-TW" altLang="en-US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指令</a:t>
            </a:r>
            <a:endParaRPr lang="en-US" altLang="zh-TW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使用</a:t>
            </a:r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cursor</a:t>
            </a:r>
          </a:p>
          <a:p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建立</a:t>
            </a:r>
            <a:r>
              <a:rPr lang="en-US" altLang="zh-TW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Store Procedure</a:t>
            </a:r>
          </a:p>
          <a:p>
            <a:endParaRPr lang="zh-TW" altLang="en-US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55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1418D197-C819-4660-B138-1A4E6C307CF6}" type="slidenum">
              <a:rPr lang="es-ES" altLang="zh-TW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18</a:t>
            </a:fld>
            <a:endParaRPr lang="es-ES" altLang="zh-TW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4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2147</Words>
  <Application>Microsoft Office PowerPoint</Application>
  <PresentationFormat>寬螢幕</PresentationFormat>
  <Paragraphs>280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新細明體</vt:lpstr>
      <vt:lpstr>標楷體</vt:lpstr>
      <vt:lpstr>Arial</vt:lpstr>
      <vt:lpstr>Diseño predeterminado</vt:lpstr>
      <vt:lpstr>1_Diseño predeterminado</vt:lpstr>
      <vt:lpstr>PowerPoint 簡報</vt:lpstr>
      <vt:lpstr>使用環境  MS SQL SERVER</vt:lpstr>
      <vt:lpstr>範例4.</vt:lpstr>
      <vt:lpstr>範例5.</vt:lpstr>
      <vt:lpstr>範例6.</vt:lpstr>
      <vt:lpstr>使用的SQL(算出當天的進貨總金額)</vt:lpstr>
      <vt:lpstr>新增 Store Procedure的方法</vt:lpstr>
      <vt:lpstr>完成的SP.</vt:lpstr>
      <vt:lpstr>改抓昨天的日期</vt:lpstr>
      <vt:lpstr>使用的SQL(算出昨天的進貨總金額)</vt:lpstr>
      <vt:lpstr>上一個SP.分成二層來完成</vt:lpstr>
      <vt:lpstr>被呼叫的SP. (接上一層傳來參數)</vt:lpstr>
      <vt:lpstr>範例7.</vt:lpstr>
      <vt:lpstr>PowerPoint 簡報</vt:lpstr>
      <vt:lpstr>刪掉上一頁中紅字SQL (內層的CURSOR)</vt:lpstr>
      <vt:lpstr>PowerPoint 簡報</vt:lpstr>
      <vt:lpstr>範例8.</vt:lpstr>
      <vt:lpstr>期末SQL要求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hp</dc:creator>
  <cp:lastModifiedBy>user</cp:lastModifiedBy>
  <cp:revision>3</cp:revision>
  <dcterms:created xsi:type="dcterms:W3CDTF">2026-03-22T15:47:32Z</dcterms:created>
  <dcterms:modified xsi:type="dcterms:W3CDTF">2026-04-10T01:52:32Z</dcterms:modified>
</cp:coreProperties>
</file>