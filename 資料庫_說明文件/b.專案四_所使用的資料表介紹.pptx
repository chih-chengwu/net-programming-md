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93" d="100"/>
          <a:sy n="93" d="100"/>
        </p:scale>
        <p:origin x="259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 smtClean="0"/>
              <a:t>按一下以編輯母片副標題樣式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1CE410-62FA-43F4-B678-62E960EC4E37}" type="datetimeFigureOut">
              <a:rPr lang="zh-TW" altLang="en-US" smtClean="0"/>
              <a:t>2026/4/12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6599E4-2AD6-42E8-9D97-DC765E653C3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30589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1CE410-62FA-43F4-B678-62E960EC4E37}" type="datetimeFigureOut">
              <a:rPr lang="zh-TW" altLang="en-US" smtClean="0"/>
              <a:t>2026/4/12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6599E4-2AD6-42E8-9D97-DC765E653C3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030755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1CE410-62FA-43F4-B678-62E960EC4E37}" type="datetimeFigureOut">
              <a:rPr lang="zh-TW" altLang="en-US" smtClean="0"/>
              <a:t>2026/4/12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6599E4-2AD6-42E8-9D97-DC765E653C3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345490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1CE410-62FA-43F4-B678-62E960EC4E37}" type="datetimeFigureOut">
              <a:rPr lang="zh-TW" altLang="en-US" smtClean="0"/>
              <a:t>2026/4/12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6599E4-2AD6-42E8-9D97-DC765E653C3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331409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1CE410-62FA-43F4-B678-62E960EC4E37}" type="datetimeFigureOut">
              <a:rPr lang="zh-TW" altLang="en-US" smtClean="0"/>
              <a:t>2026/4/12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6599E4-2AD6-42E8-9D97-DC765E653C3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66267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1CE410-62FA-43F4-B678-62E960EC4E37}" type="datetimeFigureOut">
              <a:rPr lang="zh-TW" altLang="en-US" smtClean="0"/>
              <a:t>2026/4/12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6599E4-2AD6-42E8-9D97-DC765E653C3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834300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1CE410-62FA-43F4-B678-62E960EC4E37}" type="datetimeFigureOut">
              <a:rPr lang="zh-TW" altLang="en-US" smtClean="0"/>
              <a:t>2026/4/12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6599E4-2AD6-42E8-9D97-DC765E653C3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912825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1CE410-62FA-43F4-B678-62E960EC4E37}" type="datetimeFigureOut">
              <a:rPr lang="zh-TW" altLang="en-US" smtClean="0"/>
              <a:t>2026/4/12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6599E4-2AD6-42E8-9D97-DC765E653C3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554915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1CE410-62FA-43F4-B678-62E960EC4E37}" type="datetimeFigureOut">
              <a:rPr lang="zh-TW" altLang="en-US" smtClean="0"/>
              <a:t>2026/4/12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6599E4-2AD6-42E8-9D97-DC765E653C3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77311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1CE410-62FA-43F4-B678-62E960EC4E37}" type="datetimeFigureOut">
              <a:rPr lang="zh-TW" altLang="en-US" smtClean="0"/>
              <a:t>2026/4/12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6599E4-2AD6-42E8-9D97-DC765E653C3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064140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1CE410-62FA-43F4-B678-62E960EC4E37}" type="datetimeFigureOut">
              <a:rPr lang="zh-TW" altLang="en-US" smtClean="0"/>
              <a:t>2026/4/12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6599E4-2AD6-42E8-9D97-DC765E653C3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63964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1CE410-62FA-43F4-B678-62E960EC4E37}" type="datetimeFigureOut">
              <a:rPr lang="zh-TW" altLang="en-US" smtClean="0"/>
              <a:t>2026/4/12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6599E4-2AD6-42E8-9D97-DC765E653C3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645774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678502"/>
          </a:xfrm>
        </p:spPr>
        <p:txBody>
          <a:bodyPr/>
          <a:lstStyle/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專案四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: 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進銷存管理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4176584"/>
            <a:ext cx="9144000" cy="1081216"/>
          </a:xfrm>
        </p:spPr>
        <p:txBody>
          <a:bodyPr>
            <a:normAutofit/>
          </a:bodyPr>
          <a:lstStyle/>
          <a:p>
            <a:r>
              <a:rPr lang="zh-TW" altLang="en-US" sz="4000" dirty="0">
                <a:latin typeface="標楷體" panose="03000509000000000000" pitchFamily="65" charset="-120"/>
                <a:ea typeface="標楷體" panose="03000509000000000000" pitchFamily="65" charset="-120"/>
              </a:rPr>
              <a:t>所</a:t>
            </a:r>
            <a:r>
              <a:rPr lang="zh-TW" altLang="en-US" sz="40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使用的</a:t>
            </a:r>
            <a:r>
              <a:rPr lang="zh-TW" altLang="en-US" sz="40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資料表</a:t>
            </a:r>
            <a:r>
              <a:rPr lang="zh-TW" altLang="en-US" sz="40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介紹</a:t>
            </a:r>
            <a:endParaRPr lang="zh-TW" altLang="en-US" sz="40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2331485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159180"/>
            <a:ext cx="10515600" cy="774676"/>
          </a:xfrm>
        </p:spPr>
        <p:txBody>
          <a:bodyPr/>
          <a:lstStyle/>
          <a:p>
            <a:pPr algn="ctr"/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基本檔</a:t>
            </a:r>
            <a:endParaRPr lang="zh-TW" altLang="en-US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graphicFrame>
        <p:nvGraphicFramePr>
          <p:cNvPr id="6" name="表格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8129736"/>
              </p:ext>
            </p:extLst>
          </p:nvPr>
        </p:nvGraphicFramePr>
        <p:xfrm>
          <a:off x="2032806" y="1411410"/>
          <a:ext cx="7626760" cy="30988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3850">
                  <a:extLst>
                    <a:ext uri="{9D8B030D-6E8A-4147-A177-3AD203B41FA5}">
                      <a16:colId xmlns:a16="http://schemas.microsoft.com/office/drawing/2014/main" val="479732917"/>
                    </a:ext>
                  </a:extLst>
                </a:gridCol>
                <a:gridCol w="1617302">
                  <a:extLst>
                    <a:ext uri="{9D8B030D-6E8A-4147-A177-3AD203B41FA5}">
                      <a16:colId xmlns:a16="http://schemas.microsoft.com/office/drawing/2014/main" val="371581703"/>
                    </a:ext>
                  </a:extLst>
                </a:gridCol>
                <a:gridCol w="1314598">
                  <a:extLst>
                    <a:ext uri="{9D8B030D-6E8A-4147-A177-3AD203B41FA5}">
                      <a16:colId xmlns:a16="http://schemas.microsoft.com/office/drawing/2014/main" val="486307679"/>
                    </a:ext>
                  </a:extLst>
                </a:gridCol>
                <a:gridCol w="1236761">
                  <a:extLst>
                    <a:ext uri="{9D8B030D-6E8A-4147-A177-3AD203B41FA5}">
                      <a16:colId xmlns:a16="http://schemas.microsoft.com/office/drawing/2014/main" val="4013744716"/>
                    </a:ext>
                  </a:extLst>
                </a:gridCol>
                <a:gridCol w="2884249">
                  <a:extLst>
                    <a:ext uri="{9D8B030D-6E8A-4147-A177-3AD203B41FA5}">
                      <a16:colId xmlns:a16="http://schemas.microsoft.com/office/drawing/2014/main" val="1787003182"/>
                    </a:ext>
                  </a:extLst>
                </a:gridCol>
              </a:tblGrid>
              <a:tr h="371541">
                <a:tc>
                  <a:txBody>
                    <a:bodyPr/>
                    <a:lstStyle/>
                    <a:p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英文名稱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型態</a:t>
                      </a:r>
                      <a:r>
                        <a:rPr lang="en-US" altLang="zh-TW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/</a:t>
                      </a:r>
                      <a:r>
                        <a:rPr lang="zh-TW" altLang="en-US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長度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中文名稱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說明</a:t>
                      </a:r>
                      <a:r>
                        <a:rPr lang="en-US" altLang="zh-TW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/</a:t>
                      </a:r>
                      <a:r>
                        <a:rPr lang="zh-TW" altLang="en-US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範例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7253122"/>
                  </a:ext>
                </a:extLst>
              </a:tr>
              <a:tr h="371541">
                <a:tc>
                  <a:txBody>
                    <a:bodyPr/>
                    <a:lstStyle/>
                    <a:p>
                      <a:r>
                        <a:rPr lang="en-US" altLang="zh-TW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PK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chProdNo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char(7)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r>
                        <a:rPr lang="zh-TW" altLang="en-US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物品代碼</a:t>
                      </a:r>
                      <a:endParaRPr lang="zh-TW" altLang="en-US" sz="16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P01</a:t>
                      </a:r>
                      <a:endParaRPr lang="zh-TW" altLang="en-US" sz="16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1791647"/>
                  </a:ext>
                </a:extLst>
              </a:tr>
              <a:tr h="371541">
                <a:tc>
                  <a:txBody>
                    <a:bodyPr/>
                    <a:lstStyle/>
                    <a:p>
                      <a:endParaRPr lang="zh-TW" altLang="en-US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chProdName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char(100)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r>
                        <a:rPr lang="zh-TW" altLang="en-US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物品名稱</a:t>
                      </a:r>
                      <a:endParaRPr lang="zh-TW" altLang="en-US" sz="16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128G USB </a:t>
                      </a:r>
                      <a:endParaRPr lang="zh-TW" altLang="en-US" sz="16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7478350"/>
                  </a:ext>
                </a:extLst>
              </a:tr>
              <a:tr h="371541">
                <a:tc>
                  <a:txBody>
                    <a:bodyPr/>
                    <a:lstStyle/>
                    <a:p>
                      <a:endParaRPr lang="zh-TW" altLang="en-US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chUnit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char(4)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r>
                        <a:rPr lang="zh-TW" altLang="en-US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物品單位</a:t>
                      </a:r>
                      <a:endParaRPr lang="zh-TW" altLang="en-US" sz="16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支</a:t>
                      </a:r>
                      <a:r>
                        <a:rPr lang="en-US" altLang="zh-TW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/</a:t>
                      </a:r>
                      <a:r>
                        <a:rPr lang="zh-TW" altLang="en-US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個</a:t>
                      </a:r>
                      <a:endParaRPr lang="zh-TW" altLang="en-US" sz="16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8330276"/>
                  </a:ext>
                </a:extLst>
              </a:tr>
              <a:tr h="371541">
                <a:tc>
                  <a:txBody>
                    <a:bodyPr/>
                    <a:lstStyle/>
                    <a:p>
                      <a:endParaRPr lang="zh-TW" altLang="en-US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rlStockQty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real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r>
                        <a:rPr lang="zh-TW" altLang="en-US" sz="1600" dirty="0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庫存數量</a:t>
                      </a:r>
                      <a:endParaRPr lang="zh-TW" altLang="en-US" sz="1600" dirty="0">
                        <a:solidFill>
                          <a:srgbClr val="FF0000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600" dirty="0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目前庫房現貨</a:t>
                      </a:r>
                      <a:r>
                        <a:rPr lang="en-US" altLang="zh-TW" sz="1600" dirty="0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: 50</a:t>
                      </a:r>
                      <a:endParaRPr lang="zh-TW" altLang="en-US" sz="1600" dirty="0">
                        <a:solidFill>
                          <a:srgbClr val="FF0000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0089897"/>
                  </a:ext>
                </a:extLst>
              </a:tr>
              <a:tr h="371541">
                <a:tc>
                  <a:txBody>
                    <a:bodyPr/>
                    <a:lstStyle/>
                    <a:p>
                      <a:endParaRPr lang="zh-TW" altLang="en-US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rlInpPrice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real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r>
                        <a:rPr lang="zh-TW" altLang="en-US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進貨單價</a:t>
                      </a:r>
                      <a:endParaRPr lang="zh-TW" altLang="en-US" sz="16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買進單價 </a:t>
                      </a:r>
                      <a:r>
                        <a:rPr lang="en-US" altLang="zh-TW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($), eg.260</a:t>
                      </a:r>
                      <a:endParaRPr lang="zh-TW" altLang="en-US" sz="16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9519324"/>
                  </a:ext>
                </a:extLst>
              </a:tr>
              <a:tr h="371541">
                <a:tc>
                  <a:txBody>
                    <a:bodyPr/>
                    <a:lstStyle/>
                    <a:p>
                      <a:endParaRPr lang="zh-TW" altLang="en-US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rlSellPrice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real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出貨單價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賣出單價 </a:t>
                      </a:r>
                      <a:r>
                        <a:rPr lang="en-US" altLang="zh-TW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($), eg.380</a:t>
                      </a:r>
                      <a:endParaRPr lang="zh-TW" altLang="en-US" sz="1600" dirty="0" smtClean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7624419"/>
                  </a:ext>
                </a:extLst>
              </a:tr>
              <a:tr h="498015">
                <a:tc>
                  <a:txBody>
                    <a:bodyPr/>
                    <a:lstStyle/>
                    <a:p>
                      <a:endParaRPr lang="zh-TW" altLang="en-US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chCreatDateTime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char(11)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r>
                        <a:rPr lang="zh-TW" altLang="en-US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建檔日期</a:t>
                      </a:r>
                      <a:endParaRPr lang="zh-TW" altLang="en-US" sz="16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YYYMMDDhhmm</a:t>
                      </a:r>
                      <a:r>
                        <a:rPr lang="en-US" altLang="zh-TW" sz="1600" baseline="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,eg.11504302359</a:t>
                      </a:r>
                      <a:endParaRPr lang="zh-TW" altLang="en-US" sz="16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1890363"/>
                  </a:ext>
                </a:extLst>
              </a:tr>
            </a:tbl>
          </a:graphicData>
        </a:graphic>
      </p:graphicFrame>
      <p:sp>
        <p:nvSpPr>
          <p:cNvPr id="8" name="矩形 7"/>
          <p:cNvSpPr/>
          <p:nvPr/>
        </p:nvSpPr>
        <p:spPr>
          <a:xfrm>
            <a:off x="2035782" y="1045724"/>
            <a:ext cx="7623784" cy="365686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 smtClean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物品主檔  </a:t>
            </a:r>
            <a:r>
              <a:rPr lang="en-US" altLang="zh-TW" dirty="0" err="1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ProductTbl</a:t>
            </a:r>
            <a:endParaRPr lang="zh-TW" altLang="en-US" dirty="0">
              <a:solidFill>
                <a:schemeClr val="tx1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2035782" y="4984888"/>
            <a:ext cx="7623784" cy="365686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 smtClean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廠商主檔  </a:t>
            </a:r>
            <a:r>
              <a:rPr lang="en-US" altLang="zh-TW" dirty="0" err="1" smtClean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FactoryTbl</a:t>
            </a:r>
            <a:endParaRPr lang="zh-TW" altLang="en-US" dirty="0">
              <a:solidFill>
                <a:schemeClr val="tx1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graphicFrame>
        <p:nvGraphicFramePr>
          <p:cNvPr id="11" name="表格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5155774"/>
              </p:ext>
            </p:extLst>
          </p:nvPr>
        </p:nvGraphicFramePr>
        <p:xfrm>
          <a:off x="2032806" y="5350574"/>
          <a:ext cx="7626760" cy="111462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3850">
                  <a:extLst>
                    <a:ext uri="{9D8B030D-6E8A-4147-A177-3AD203B41FA5}">
                      <a16:colId xmlns:a16="http://schemas.microsoft.com/office/drawing/2014/main" val="479732917"/>
                    </a:ext>
                  </a:extLst>
                </a:gridCol>
                <a:gridCol w="1617302">
                  <a:extLst>
                    <a:ext uri="{9D8B030D-6E8A-4147-A177-3AD203B41FA5}">
                      <a16:colId xmlns:a16="http://schemas.microsoft.com/office/drawing/2014/main" val="371581703"/>
                    </a:ext>
                  </a:extLst>
                </a:gridCol>
                <a:gridCol w="1314598">
                  <a:extLst>
                    <a:ext uri="{9D8B030D-6E8A-4147-A177-3AD203B41FA5}">
                      <a16:colId xmlns:a16="http://schemas.microsoft.com/office/drawing/2014/main" val="486307679"/>
                    </a:ext>
                  </a:extLst>
                </a:gridCol>
                <a:gridCol w="1236761">
                  <a:extLst>
                    <a:ext uri="{9D8B030D-6E8A-4147-A177-3AD203B41FA5}">
                      <a16:colId xmlns:a16="http://schemas.microsoft.com/office/drawing/2014/main" val="4013744716"/>
                    </a:ext>
                  </a:extLst>
                </a:gridCol>
                <a:gridCol w="2884249">
                  <a:extLst>
                    <a:ext uri="{9D8B030D-6E8A-4147-A177-3AD203B41FA5}">
                      <a16:colId xmlns:a16="http://schemas.microsoft.com/office/drawing/2014/main" val="1787003182"/>
                    </a:ext>
                  </a:extLst>
                </a:gridCol>
              </a:tblGrid>
              <a:tr h="371541">
                <a:tc>
                  <a:txBody>
                    <a:bodyPr/>
                    <a:lstStyle/>
                    <a:p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英文名稱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型態</a:t>
                      </a:r>
                      <a:r>
                        <a:rPr lang="en-US" altLang="zh-TW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/</a:t>
                      </a:r>
                      <a:r>
                        <a:rPr lang="zh-TW" altLang="en-US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長度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中文名稱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說明</a:t>
                      </a:r>
                      <a:r>
                        <a:rPr lang="en-US" altLang="zh-TW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/</a:t>
                      </a:r>
                      <a:r>
                        <a:rPr lang="zh-TW" altLang="en-US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範例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7253122"/>
                  </a:ext>
                </a:extLst>
              </a:tr>
              <a:tr h="371541">
                <a:tc>
                  <a:txBody>
                    <a:bodyPr/>
                    <a:lstStyle/>
                    <a:p>
                      <a:r>
                        <a:rPr lang="en-US" altLang="zh-TW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PK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chFactNo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char(10)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r>
                        <a:rPr lang="zh-TW" altLang="en-US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廠商代號</a:t>
                      </a:r>
                      <a:endParaRPr lang="zh-TW" altLang="en-US" sz="16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F01</a:t>
                      </a:r>
                      <a:endParaRPr lang="zh-TW" altLang="en-US" sz="16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1791647"/>
                  </a:ext>
                </a:extLst>
              </a:tr>
              <a:tr h="371541">
                <a:tc>
                  <a:txBody>
                    <a:bodyPr/>
                    <a:lstStyle/>
                    <a:p>
                      <a:endParaRPr lang="zh-TW" altLang="en-US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chFactName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char(100)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r>
                        <a:rPr lang="zh-TW" altLang="en-US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廠商名稱</a:t>
                      </a:r>
                      <a:endParaRPr lang="zh-TW" altLang="en-US" sz="16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全國電子黃昏市場店 </a:t>
                      </a:r>
                      <a:endParaRPr lang="zh-TW" altLang="en-US" sz="16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74783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384266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159180"/>
            <a:ext cx="10515600" cy="774676"/>
          </a:xfrm>
        </p:spPr>
        <p:txBody>
          <a:bodyPr/>
          <a:lstStyle/>
          <a:p>
            <a:pPr algn="ctr"/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交易檔 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進貨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endParaRPr lang="zh-TW" altLang="en-US" dirty="0">
              <a:solidFill>
                <a:srgbClr val="FF0000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graphicFrame>
        <p:nvGraphicFramePr>
          <p:cNvPr id="6" name="表格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6601178"/>
              </p:ext>
            </p:extLst>
          </p:nvPr>
        </p:nvGraphicFramePr>
        <p:xfrm>
          <a:off x="1553044" y="1411410"/>
          <a:ext cx="9085911" cy="14861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3640">
                  <a:extLst>
                    <a:ext uri="{9D8B030D-6E8A-4147-A177-3AD203B41FA5}">
                      <a16:colId xmlns:a16="http://schemas.microsoft.com/office/drawing/2014/main" val="479732917"/>
                    </a:ext>
                  </a:extLst>
                </a:gridCol>
                <a:gridCol w="1926723">
                  <a:extLst>
                    <a:ext uri="{9D8B030D-6E8A-4147-A177-3AD203B41FA5}">
                      <a16:colId xmlns:a16="http://schemas.microsoft.com/office/drawing/2014/main" val="371581703"/>
                    </a:ext>
                  </a:extLst>
                </a:gridCol>
                <a:gridCol w="1363529">
                  <a:extLst>
                    <a:ext uri="{9D8B030D-6E8A-4147-A177-3AD203B41FA5}">
                      <a16:colId xmlns:a16="http://schemas.microsoft.com/office/drawing/2014/main" val="486307679"/>
                    </a:ext>
                  </a:extLst>
                </a:gridCol>
                <a:gridCol w="1828067">
                  <a:extLst>
                    <a:ext uri="{9D8B030D-6E8A-4147-A177-3AD203B41FA5}">
                      <a16:colId xmlns:a16="http://schemas.microsoft.com/office/drawing/2014/main" val="4013744716"/>
                    </a:ext>
                  </a:extLst>
                </a:gridCol>
                <a:gridCol w="3283952">
                  <a:extLst>
                    <a:ext uri="{9D8B030D-6E8A-4147-A177-3AD203B41FA5}">
                      <a16:colId xmlns:a16="http://schemas.microsoft.com/office/drawing/2014/main" val="1787003182"/>
                    </a:ext>
                  </a:extLst>
                </a:gridCol>
              </a:tblGrid>
              <a:tr h="371541">
                <a:tc>
                  <a:txBody>
                    <a:bodyPr/>
                    <a:lstStyle/>
                    <a:p>
                      <a:pPr algn="ctr"/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英文名稱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型態</a:t>
                      </a:r>
                      <a:r>
                        <a:rPr lang="en-US" altLang="zh-TW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/</a:t>
                      </a:r>
                      <a:r>
                        <a:rPr lang="zh-TW" altLang="en-US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長度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中文名稱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說明</a:t>
                      </a:r>
                      <a:r>
                        <a:rPr lang="en-US" altLang="zh-TW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/</a:t>
                      </a:r>
                      <a:r>
                        <a:rPr lang="zh-TW" altLang="en-US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範例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7253122"/>
                  </a:ext>
                </a:extLst>
              </a:tr>
              <a:tr h="371541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PK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chInpDateTime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char(13)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r>
                        <a:rPr lang="zh-TW" altLang="en-US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進貨時間</a:t>
                      </a:r>
                      <a:endParaRPr lang="zh-TW" altLang="en-US" sz="16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YYYMMDDhhmmss</a:t>
                      </a:r>
                      <a:r>
                        <a:rPr lang="en-US" altLang="zh-TW" sz="1600" baseline="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,eg.1150430235930</a:t>
                      </a:r>
                      <a:endParaRPr lang="zh-TW" altLang="en-US" sz="1600" dirty="0" smtClean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1791647"/>
                  </a:ext>
                </a:extLst>
              </a:tr>
              <a:tr h="371541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PK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chFactNo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char(10)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r>
                        <a:rPr lang="zh-TW" altLang="en-US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廠商代號</a:t>
                      </a:r>
                      <a:endParaRPr lang="zh-TW" altLang="en-US" sz="16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F01</a:t>
                      </a:r>
                      <a:endParaRPr lang="zh-TW" altLang="en-US" sz="16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7478350"/>
                  </a:ext>
                </a:extLst>
              </a:tr>
              <a:tr h="371541">
                <a:tc>
                  <a:txBody>
                    <a:bodyPr/>
                    <a:lstStyle/>
                    <a:p>
                      <a:pPr algn="ctr"/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rlInpTotAmt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real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r>
                        <a:rPr lang="zh-TW" altLang="en-US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此進貨單總金額</a:t>
                      </a:r>
                      <a:endParaRPr lang="zh-TW" altLang="en-US" sz="16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60,000</a:t>
                      </a:r>
                      <a:r>
                        <a:rPr lang="zh-TW" altLang="en-US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元</a:t>
                      </a:r>
                      <a:endParaRPr lang="zh-TW" altLang="en-US" sz="16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8330276"/>
                  </a:ext>
                </a:extLst>
              </a:tr>
            </a:tbl>
          </a:graphicData>
        </a:graphic>
      </p:graphicFrame>
      <p:sp>
        <p:nvSpPr>
          <p:cNvPr id="8" name="矩形 7"/>
          <p:cNvSpPr/>
          <p:nvPr/>
        </p:nvSpPr>
        <p:spPr>
          <a:xfrm>
            <a:off x="1553043" y="1045724"/>
            <a:ext cx="9085911" cy="365686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 smtClean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進貨主檔  </a:t>
            </a:r>
            <a:r>
              <a:rPr lang="en-US" altLang="zh-TW" dirty="0" err="1" smtClean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InputHeadTbl</a:t>
            </a:r>
            <a:endParaRPr lang="zh-TW" altLang="en-US" dirty="0">
              <a:solidFill>
                <a:schemeClr val="tx1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1553043" y="3530638"/>
            <a:ext cx="9085910" cy="365686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 smtClean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進貨明細檔  </a:t>
            </a:r>
            <a:r>
              <a:rPr lang="en-US" altLang="zh-TW" dirty="0" err="1" smtClean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InputDetailTbl</a:t>
            </a:r>
            <a:endParaRPr lang="zh-TW" altLang="en-US" dirty="0">
              <a:solidFill>
                <a:schemeClr val="tx1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graphicFrame>
        <p:nvGraphicFramePr>
          <p:cNvPr id="11" name="表格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5931881"/>
              </p:ext>
            </p:extLst>
          </p:nvPr>
        </p:nvGraphicFramePr>
        <p:xfrm>
          <a:off x="1553044" y="3896324"/>
          <a:ext cx="9085909" cy="25950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3639">
                  <a:extLst>
                    <a:ext uri="{9D8B030D-6E8A-4147-A177-3AD203B41FA5}">
                      <a16:colId xmlns:a16="http://schemas.microsoft.com/office/drawing/2014/main" val="479732917"/>
                    </a:ext>
                  </a:extLst>
                </a:gridCol>
                <a:gridCol w="1926724">
                  <a:extLst>
                    <a:ext uri="{9D8B030D-6E8A-4147-A177-3AD203B41FA5}">
                      <a16:colId xmlns:a16="http://schemas.microsoft.com/office/drawing/2014/main" val="371581703"/>
                    </a:ext>
                  </a:extLst>
                </a:gridCol>
                <a:gridCol w="1407314">
                  <a:extLst>
                    <a:ext uri="{9D8B030D-6E8A-4147-A177-3AD203B41FA5}">
                      <a16:colId xmlns:a16="http://schemas.microsoft.com/office/drawing/2014/main" val="486307679"/>
                    </a:ext>
                  </a:extLst>
                </a:gridCol>
                <a:gridCol w="1762387">
                  <a:extLst>
                    <a:ext uri="{9D8B030D-6E8A-4147-A177-3AD203B41FA5}">
                      <a16:colId xmlns:a16="http://schemas.microsoft.com/office/drawing/2014/main" val="4013744716"/>
                    </a:ext>
                  </a:extLst>
                </a:gridCol>
                <a:gridCol w="3305845">
                  <a:extLst>
                    <a:ext uri="{9D8B030D-6E8A-4147-A177-3AD203B41FA5}">
                      <a16:colId xmlns:a16="http://schemas.microsoft.com/office/drawing/2014/main" val="1787003182"/>
                    </a:ext>
                  </a:extLst>
                </a:gridCol>
              </a:tblGrid>
              <a:tr h="145554">
                <a:tc>
                  <a:txBody>
                    <a:bodyPr/>
                    <a:lstStyle/>
                    <a:p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英文名稱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型態</a:t>
                      </a:r>
                      <a:r>
                        <a:rPr lang="en-US" altLang="zh-TW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/</a:t>
                      </a:r>
                      <a:r>
                        <a:rPr lang="zh-TW" altLang="en-US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長度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中文名稱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說明</a:t>
                      </a:r>
                      <a:r>
                        <a:rPr lang="en-US" altLang="zh-TW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/</a:t>
                      </a:r>
                      <a:r>
                        <a:rPr lang="zh-TW" altLang="en-US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範例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7253122"/>
                  </a:ext>
                </a:extLst>
              </a:tr>
              <a:tr h="371541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PK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chInpDateTime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char(13)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r>
                        <a:rPr lang="zh-TW" altLang="en-US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進貨時間</a:t>
                      </a:r>
                      <a:endParaRPr lang="zh-TW" altLang="en-US" sz="16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YYYMMDDhhmmss</a:t>
                      </a:r>
                      <a:r>
                        <a:rPr lang="en-US" altLang="zh-TW" sz="1600" baseline="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,eg.1150430235930</a:t>
                      </a:r>
                      <a:endParaRPr lang="zh-TW" altLang="en-US" sz="1600" dirty="0" smtClean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1791647"/>
                  </a:ext>
                </a:extLst>
              </a:tr>
              <a:tr h="371541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PK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chFactNo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char(10)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r>
                        <a:rPr lang="zh-TW" altLang="en-US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廠商代號</a:t>
                      </a:r>
                      <a:endParaRPr lang="zh-TW" altLang="en-US" sz="16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F01</a:t>
                      </a:r>
                      <a:endParaRPr lang="zh-TW" altLang="en-US" sz="16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7478350"/>
                  </a:ext>
                </a:extLst>
              </a:tr>
              <a:tr h="371541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PK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chProdNo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char(7)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物品代碼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P01</a:t>
                      </a:r>
                      <a:endParaRPr lang="zh-TW" altLang="en-US" sz="16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447183"/>
                  </a:ext>
                </a:extLst>
              </a:tr>
              <a:tr h="371541">
                <a:tc>
                  <a:txBody>
                    <a:bodyPr/>
                    <a:lstStyle/>
                    <a:p>
                      <a:pPr algn="ctr"/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rlInpQty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real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r>
                        <a:rPr lang="zh-TW" altLang="en-US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進貨數量</a:t>
                      </a:r>
                      <a:endParaRPr lang="zh-TW" altLang="en-US" sz="16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10</a:t>
                      </a:r>
                      <a:endParaRPr lang="zh-TW" altLang="en-US" sz="16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106183"/>
                  </a:ext>
                </a:extLst>
              </a:tr>
              <a:tr h="371541">
                <a:tc>
                  <a:txBody>
                    <a:bodyPr/>
                    <a:lstStyle/>
                    <a:p>
                      <a:pPr algn="ctr"/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rlInpPrice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real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r>
                        <a:rPr lang="zh-TW" altLang="en-US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進貨單價</a:t>
                      </a:r>
                      <a:endParaRPr lang="zh-TW" altLang="en-US" sz="16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600" dirty="0" err="1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eg</a:t>
                      </a:r>
                      <a:r>
                        <a:rPr lang="en-US" altLang="zh-TW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.</a:t>
                      </a:r>
                      <a:r>
                        <a:rPr lang="en-US" altLang="zh-TW" sz="1600" baseline="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</a:t>
                      </a:r>
                      <a:r>
                        <a:rPr lang="en-US" altLang="zh-TW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260 ($)</a:t>
                      </a:r>
                      <a:endParaRPr lang="zh-TW" altLang="en-US" sz="16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714361"/>
                  </a:ext>
                </a:extLst>
              </a:tr>
              <a:tr h="371541">
                <a:tc>
                  <a:txBody>
                    <a:bodyPr/>
                    <a:lstStyle/>
                    <a:p>
                      <a:pPr algn="ctr"/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rlInpAmt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real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r>
                        <a:rPr lang="zh-TW" altLang="en-US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此單項的金額</a:t>
                      </a:r>
                      <a:endParaRPr lang="zh-TW" altLang="en-US" sz="16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600" dirty="0" err="1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eg</a:t>
                      </a:r>
                      <a:r>
                        <a:rPr lang="en-US" altLang="zh-TW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.</a:t>
                      </a:r>
                      <a:r>
                        <a:rPr lang="en-US" altLang="zh-TW" sz="1600" baseline="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</a:t>
                      </a:r>
                      <a:r>
                        <a:rPr lang="en-US" altLang="zh-TW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2,600 ($)</a:t>
                      </a:r>
                      <a:endParaRPr lang="zh-TW" altLang="en-US" sz="16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46211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798934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159180"/>
            <a:ext cx="10515600" cy="774676"/>
          </a:xfrm>
        </p:spPr>
        <p:txBody>
          <a:bodyPr/>
          <a:lstStyle/>
          <a:p>
            <a:pPr algn="ctr"/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交易檔 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出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貨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endParaRPr lang="zh-TW" altLang="en-US" dirty="0">
              <a:solidFill>
                <a:srgbClr val="FF0000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graphicFrame>
        <p:nvGraphicFramePr>
          <p:cNvPr id="6" name="表格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8635076"/>
              </p:ext>
            </p:extLst>
          </p:nvPr>
        </p:nvGraphicFramePr>
        <p:xfrm>
          <a:off x="1553044" y="1411410"/>
          <a:ext cx="9085911" cy="14861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3640">
                  <a:extLst>
                    <a:ext uri="{9D8B030D-6E8A-4147-A177-3AD203B41FA5}">
                      <a16:colId xmlns:a16="http://schemas.microsoft.com/office/drawing/2014/main" val="479732917"/>
                    </a:ext>
                  </a:extLst>
                </a:gridCol>
                <a:gridCol w="1926723">
                  <a:extLst>
                    <a:ext uri="{9D8B030D-6E8A-4147-A177-3AD203B41FA5}">
                      <a16:colId xmlns:a16="http://schemas.microsoft.com/office/drawing/2014/main" val="371581703"/>
                    </a:ext>
                  </a:extLst>
                </a:gridCol>
                <a:gridCol w="1363529">
                  <a:extLst>
                    <a:ext uri="{9D8B030D-6E8A-4147-A177-3AD203B41FA5}">
                      <a16:colId xmlns:a16="http://schemas.microsoft.com/office/drawing/2014/main" val="486307679"/>
                    </a:ext>
                  </a:extLst>
                </a:gridCol>
                <a:gridCol w="1828067">
                  <a:extLst>
                    <a:ext uri="{9D8B030D-6E8A-4147-A177-3AD203B41FA5}">
                      <a16:colId xmlns:a16="http://schemas.microsoft.com/office/drawing/2014/main" val="4013744716"/>
                    </a:ext>
                  </a:extLst>
                </a:gridCol>
                <a:gridCol w="3283952">
                  <a:extLst>
                    <a:ext uri="{9D8B030D-6E8A-4147-A177-3AD203B41FA5}">
                      <a16:colId xmlns:a16="http://schemas.microsoft.com/office/drawing/2014/main" val="1787003182"/>
                    </a:ext>
                  </a:extLst>
                </a:gridCol>
              </a:tblGrid>
              <a:tr h="371541">
                <a:tc>
                  <a:txBody>
                    <a:bodyPr/>
                    <a:lstStyle/>
                    <a:p>
                      <a:pPr algn="ctr"/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英文名稱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型態</a:t>
                      </a:r>
                      <a:r>
                        <a:rPr lang="en-US" altLang="zh-TW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/</a:t>
                      </a:r>
                      <a:r>
                        <a:rPr lang="zh-TW" altLang="en-US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長度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中文名稱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說明</a:t>
                      </a:r>
                      <a:r>
                        <a:rPr lang="en-US" altLang="zh-TW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/</a:t>
                      </a:r>
                      <a:r>
                        <a:rPr lang="zh-TW" altLang="en-US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範例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7253122"/>
                  </a:ext>
                </a:extLst>
              </a:tr>
              <a:tr h="371541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PK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ch</a:t>
                      </a:r>
                      <a:r>
                        <a:rPr lang="en-US" sz="1600" b="0" i="0" u="none" strike="noStrike" dirty="0" err="1" smtClean="0">
                          <a:solidFill>
                            <a:srgbClr val="0000FF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Outp</a:t>
                      </a:r>
                      <a:r>
                        <a:rPr lang="en-US" sz="16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DateTime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char(13)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r>
                        <a:rPr lang="en-US" altLang="zh-TW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(</a:t>
                      </a:r>
                      <a:r>
                        <a:rPr lang="zh-TW" altLang="en-US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出</a:t>
                      </a:r>
                      <a:r>
                        <a:rPr lang="en-US" altLang="zh-TW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)</a:t>
                      </a:r>
                      <a:r>
                        <a:rPr lang="zh-TW" altLang="en-US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貨時間</a:t>
                      </a:r>
                      <a:endParaRPr lang="zh-TW" altLang="en-US" sz="16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YYYMMDDhhmmss</a:t>
                      </a:r>
                      <a:r>
                        <a:rPr lang="en-US" altLang="zh-TW" sz="1600" baseline="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,eg.1150508123044</a:t>
                      </a:r>
                      <a:endParaRPr lang="zh-TW" altLang="en-US" sz="16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1791647"/>
                  </a:ext>
                </a:extLst>
              </a:tr>
              <a:tr h="371541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PK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chFactNo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char(10)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r>
                        <a:rPr lang="zh-TW" altLang="en-US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廠商代號</a:t>
                      </a:r>
                      <a:endParaRPr lang="zh-TW" altLang="en-US" sz="16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F01</a:t>
                      </a:r>
                      <a:endParaRPr lang="zh-TW" altLang="en-US" sz="16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7478350"/>
                  </a:ext>
                </a:extLst>
              </a:tr>
              <a:tr h="371541">
                <a:tc>
                  <a:txBody>
                    <a:bodyPr/>
                    <a:lstStyle/>
                    <a:p>
                      <a:pPr algn="ctr"/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rl</a:t>
                      </a:r>
                      <a:r>
                        <a:rPr lang="en-US" sz="1600" b="0" i="0" u="none" strike="noStrike" dirty="0" err="1" smtClean="0">
                          <a:solidFill>
                            <a:srgbClr val="0000FF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Outp</a:t>
                      </a:r>
                      <a:r>
                        <a:rPr lang="en-US" sz="16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TotAmt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real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r>
                        <a:rPr lang="zh-TW" altLang="en-US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此</a:t>
                      </a:r>
                      <a:r>
                        <a:rPr lang="en-US" altLang="zh-TW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(</a:t>
                      </a:r>
                      <a:r>
                        <a:rPr lang="zh-TW" altLang="en-US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出</a:t>
                      </a:r>
                      <a:r>
                        <a:rPr lang="en-US" altLang="zh-TW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)</a:t>
                      </a:r>
                      <a:r>
                        <a:rPr lang="zh-TW" altLang="en-US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貨單總金額</a:t>
                      </a:r>
                      <a:endParaRPr lang="zh-TW" altLang="en-US" sz="16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60,000</a:t>
                      </a:r>
                      <a:r>
                        <a:rPr lang="zh-TW" altLang="en-US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元</a:t>
                      </a:r>
                      <a:endParaRPr lang="zh-TW" altLang="en-US" sz="16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8330276"/>
                  </a:ext>
                </a:extLst>
              </a:tr>
            </a:tbl>
          </a:graphicData>
        </a:graphic>
      </p:graphicFrame>
      <p:sp>
        <p:nvSpPr>
          <p:cNvPr id="8" name="矩形 7"/>
          <p:cNvSpPr/>
          <p:nvPr/>
        </p:nvSpPr>
        <p:spPr>
          <a:xfrm>
            <a:off x="1553043" y="1045724"/>
            <a:ext cx="9085911" cy="365686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出</a:t>
            </a:r>
            <a:r>
              <a:rPr lang="zh-TW" altLang="en-US" dirty="0" smtClean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貨主檔  </a:t>
            </a:r>
            <a:r>
              <a:rPr lang="en-US" altLang="zh-TW" dirty="0" err="1" smtClean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InputHeadTbl</a:t>
            </a:r>
            <a:endParaRPr lang="zh-TW" altLang="en-US" dirty="0">
              <a:solidFill>
                <a:schemeClr val="tx1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1553043" y="3538881"/>
            <a:ext cx="9085910" cy="365686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出</a:t>
            </a:r>
            <a:r>
              <a:rPr lang="zh-TW" altLang="en-US" dirty="0" smtClean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貨明細檔  </a:t>
            </a:r>
            <a:r>
              <a:rPr lang="en-US" altLang="zh-TW" dirty="0" err="1" smtClean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InputDetailTbl</a:t>
            </a:r>
            <a:endParaRPr lang="zh-TW" altLang="en-US" dirty="0">
              <a:solidFill>
                <a:schemeClr val="tx1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graphicFrame>
        <p:nvGraphicFramePr>
          <p:cNvPr id="11" name="表格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5665364"/>
              </p:ext>
            </p:extLst>
          </p:nvPr>
        </p:nvGraphicFramePr>
        <p:xfrm>
          <a:off x="1553044" y="3904567"/>
          <a:ext cx="9085909" cy="25950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3639">
                  <a:extLst>
                    <a:ext uri="{9D8B030D-6E8A-4147-A177-3AD203B41FA5}">
                      <a16:colId xmlns:a16="http://schemas.microsoft.com/office/drawing/2014/main" val="479732917"/>
                    </a:ext>
                  </a:extLst>
                </a:gridCol>
                <a:gridCol w="1926724">
                  <a:extLst>
                    <a:ext uri="{9D8B030D-6E8A-4147-A177-3AD203B41FA5}">
                      <a16:colId xmlns:a16="http://schemas.microsoft.com/office/drawing/2014/main" val="371581703"/>
                    </a:ext>
                  </a:extLst>
                </a:gridCol>
                <a:gridCol w="1407314">
                  <a:extLst>
                    <a:ext uri="{9D8B030D-6E8A-4147-A177-3AD203B41FA5}">
                      <a16:colId xmlns:a16="http://schemas.microsoft.com/office/drawing/2014/main" val="486307679"/>
                    </a:ext>
                  </a:extLst>
                </a:gridCol>
                <a:gridCol w="1762387">
                  <a:extLst>
                    <a:ext uri="{9D8B030D-6E8A-4147-A177-3AD203B41FA5}">
                      <a16:colId xmlns:a16="http://schemas.microsoft.com/office/drawing/2014/main" val="4013744716"/>
                    </a:ext>
                  </a:extLst>
                </a:gridCol>
                <a:gridCol w="3305845">
                  <a:extLst>
                    <a:ext uri="{9D8B030D-6E8A-4147-A177-3AD203B41FA5}">
                      <a16:colId xmlns:a16="http://schemas.microsoft.com/office/drawing/2014/main" val="1787003182"/>
                    </a:ext>
                  </a:extLst>
                </a:gridCol>
              </a:tblGrid>
              <a:tr h="145554">
                <a:tc>
                  <a:txBody>
                    <a:bodyPr/>
                    <a:lstStyle/>
                    <a:p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英文名稱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型態</a:t>
                      </a:r>
                      <a:r>
                        <a:rPr lang="en-US" altLang="zh-TW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/</a:t>
                      </a:r>
                      <a:r>
                        <a:rPr lang="zh-TW" altLang="en-US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長度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中文名稱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說明</a:t>
                      </a:r>
                      <a:r>
                        <a:rPr lang="en-US" altLang="zh-TW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/</a:t>
                      </a:r>
                      <a:r>
                        <a:rPr lang="zh-TW" altLang="en-US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範例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7253122"/>
                  </a:ext>
                </a:extLst>
              </a:tr>
              <a:tr h="371541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PK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ch</a:t>
                      </a:r>
                      <a:r>
                        <a:rPr lang="en-US" sz="1600" b="0" i="0" u="none" strike="noStrike" dirty="0" err="1" smtClean="0">
                          <a:solidFill>
                            <a:srgbClr val="0000FF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Outp</a:t>
                      </a:r>
                      <a:r>
                        <a:rPr lang="en-US" sz="16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DateTime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char(13)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r>
                        <a:rPr lang="en-US" altLang="zh-TW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(</a:t>
                      </a:r>
                      <a:r>
                        <a:rPr lang="zh-TW" altLang="en-US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出</a:t>
                      </a:r>
                      <a:r>
                        <a:rPr lang="en-US" altLang="zh-TW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)</a:t>
                      </a:r>
                      <a:r>
                        <a:rPr lang="zh-TW" altLang="en-US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貨時間</a:t>
                      </a:r>
                      <a:endParaRPr lang="zh-TW" altLang="en-US" sz="16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YYYMMDDhhmmss</a:t>
                      </a:r>
                      <a:r>
                        <a:rPr lang="en-US" altLang="zh-TW" sz="1600" baseline="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,eg.1150508123044</a:t>
                      </a:r>
                      <a:endParaRPr lang="zh-TW" altLang="en-US" sz="1600" dirty="0" smtClean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1791647"/>
                  </a:ext>
                </a:extLst>
              </a:tr>
              <a:tr h="371541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PK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chFactNo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char(10)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r>
                        <a:rPr lang="zh-TW" altLang="en-US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廠商代號</a:t>
                      </a:r>
                      <a:endParaRPr lang="zh-TW" altLang="en-US" sz="16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F01</a:t>
                      </a:r>
                      <a:endParaRPr lang="zh-TW" altLang="en-US" sz="16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7478350"/>
                  </a:ext>
                </a:extLst>
              </a:tr>
              <a:tr h="371541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PK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chProdNo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char(7)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物品代碼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P01</a:t>
                      </a:r>
                      <a:endParaRPr lang="zh-TW" altLang="en-US" sz="16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447183"/>
                  </a:ext>
                </a:extLst>
              </a:tr>
              <a:tr h="371541">
                <a:tc>
                  <a:txBody>
                    <a:bodyPr/>
                    <a:lstStyle/>
                    <a:p>
                      <a:pPr algn="ctr"/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rl</a:t>
                      </a:r>
                      <a:r>
                        <a:rPr lang="en-US" sz="1600" b="0" i="0" u="none" strike="noStrike" dirty="0" err="1" smtClean="0">
                          <a:solidFill>
                            <a:srgbClr val="0000FF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Outp</a:t>
                      </a:r>
                      <a:r>
                        <a:rPr lang="en-US" sz="16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Qty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real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r>
                        <a:rPr lang="en-US" altLang="zh-TW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(</a:t>
                      </a:r>
                      <a:r>
                        <a:rPr lang="zh-TW" altLang="en-US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出</a:t>
                      </a:r>
                      <a:r>
                        <a:rPr lang="en-US" altLang="zh-TW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)</a:t>
                      </a:r>
                      <a:r>
                        <a:rPr lang="zh-TW" altLang="en-US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貨數量</a:t>
                      </a:r>
                      <a:endParaRPr lang="zh-TW" altLang="en-US" sz="16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10</a:t>
                      </a:r>
                      <a:endParaRPr lang="zh-TW" altLang="en-US" sz="16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106183"/>
                  </a:ext>
                </a:extLst>
              </a:tr>
              <a:tr h="371541">
                <a:tc>
                  <a:txBody>
                    <a:bodyPr/>
                    <a:lstStyle/>
                    <a:p>
                      <a:pPr algn="ctr"/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rl</a:t>
                      </a:r>
                      <a:r>
                        <a:rPr lang="en-US" sz="1600" b="0" i="0" u="none" strike="noStrike" dirty="0" err="1" smtClean="0">
                          <a:solidFill>
                            <a:srgbClr val="0000FF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Outp</a:t>
                      </a:r>
                      <a:r>
                        <a:rPr lang="en-US" sz="16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Price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real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r>
                        <a:rPr lang="en-US" altLang="zh-TW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(</a:t>
                      </a:r>
                      <a:r>
                        <a:rPr lang="zh-TW" altLang="en-US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出</a:t>
                      </a:r>
                      <a:r>
                        <a:rPr lang="en-US" altLang="zh-TW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)</a:t>
                      </a:r>
                      <a:r>
                        <a:rPr lang="zh-TW" altLang="en-US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貨單價</a:t>
                      </a:r>
                      <a:endParaRPr lang="zh-TW" altLang="en-US" sz="16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600" dirty="0" err="1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eg</a:t>
                      </a:r>
                      <a:r>
                        <a:rPr lang="en-US" altLang="zh-TW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.</a:t>
                      </a:r>
                      <a:r>
                        <a:rPr lang="en-US" altLang="zh-TW" sz="1600" baseline="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</a:t>
                      </a:r>
                      <a:r>
                        <a:rPr lang="en-US" altLang="zh-TW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380 ($)</a:t>
                      </a:r>
                      <a:endParaRPr lang="zh-TW" altLang="en-US" sz="16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714361"/>
                  </a:ext>
                </a:extLst>
              </a:tr>
              <a:tr h="371541">
                <a:tc>
                  <a:txBody>
                    <a:bodyPr/>
                    <a:lstStyle/>
                    <a:p>
                      <a:pPr algn="ctr"/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rl</a:t>
                      </a:r>
                      <a:r>
                        <a:rPr lang="en-US" sz="1600" b="0" i="0" u="none" strike="noStrike" dirty="0" err="1" smtClean="0">
                          <a:solidFill>
                            <a:srgbClr val="0000FF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Outp</a:t>
                      </a:r>
                      <a:r>
                        <a:rPr lang="en-US" sz="16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Amt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real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r>
                        <a:rPr lang="zh-TW" altLang="en-US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此單項的金額</a:t>
                      </a:r>
                      <a:endParaRPr lang="zh-TW" altLang="en-US" sz="16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600" dirty="0" err="1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eg</a:t>
                      </a:r>
                      <a:r>
                        <a:rPr lang="en-US" altLang="zh-TW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.</a:t>
                      </a:r>
                      <a:r>
                        <a:rPr lang="en-US" altLang="zh-TW" sz="1600" baseline="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</a:t>
                      </a:r>
                      <a:r>
                        <a:rPr lang="en-US" altLang="zh-TW" sz="16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3,800 ($)</a:t>
                      </a:r>
                      <a:endParaRPr lang="zh-TW" altLang="en-US" sz="16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46211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054174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188</TotalTime>
  <Words>330</Words>
  <Application>Microsoft Office PowerPoint</Application>
  <PresentationFormat>寬螢幕</PresentationFormat>
  <Paragraphs>155</Paragraphs>
  <Slides>4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</vt:i4>
      </vt:variant>
    </vt:vector>
  </HeadingPairs>
  <TitlesOfParts>
    <vt:vector size="10" baseType="lpstr">
      <vt:lpstr>新細明體</vt:lpstr>
      <vt:lpstr>標楷體</vt:lpstr>
      <vt:lpstr>Arial</vt:lpstr>
      <vt:lpstr>Calibri</vt:lpstr>
      <vt:lpstr>Calibri Light</vt:lpstr>
      <vt:lpstr>Office 佈景主題</vt:lpstr>
      <vt:lpstr>專案四: 進銷存管理</vt:lpstr>
      <vt:lpstr>基本檔</vt:lpstr>
      <vt:lpstr>交易檔 (進貨)</vt:lpstr>
      <vt:lpstr>交易檔 (出貨)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專案四: 進銷存管理</dc:title>
  <dc:creator>hp</dc:creator>
  <cp:lastModifiedBy>hp</cp:lastModifiedBy>
  <cp:revision>12</cp:revision>
  <dcterms:created xsi:type="dcterms:W3CDTF">2026-04-11T03:29:56Z</dcterms:created>
  <dcterms:modified xsi:type="dcterms:W3CDTF">2026-04-11T17:48:52Z</dcterms:modified>
</cp:coreProperties>
</file>