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71" r:id="rId3"/>
    <p:sldId id="257" r:id="rId4"/>
    <p:sldId id="258" r:id="rId5"/>
    <p:sldId id="261" r:id="rId6"/>
    <p:sldId id="270" r:id="rId7"/>
    <p:sldId id="272" r:id="rId8"/>
    <p:sldId id="273" r:id="rId9"/>
    <p:sldId id="274" r:id="rId10"/>
    <p:sldId id="275" r:id="rId11"/>
    <p:sldId id="262" r:id="rId12"/>
    <p:sldId id="263" r:id="rId13"/>
    <p:sldId id="264" r:id="rId14"/>
    <p:sldId id="266" r:id="rId15"/>
    <p:sldId id="265" r:id="rId16"/>
    <p:sldId id="267" r:id="rId17"/>
    <p:sldId id="268" r:id="rId18"/>
    <p:sldId id="269" r:id="rId1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79" d="100"/>
          <a:sy n="79" d="100"/>
        </p:scale>
        <p:origin x="86" y="3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185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9880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8638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761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37657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79328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65226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42885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284501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7211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46321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DA525-4C1A-4B8B-B33C-F8B0B54AD9F2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9001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6DA525-4C1A-4B8B-B33C-F8B0B54AD9F2}" type="datetimeFigureOut">
              <a:rPr lang="zh-TW" altLang="en-US" smtClean="0"/>
              <a:t>2026/4/12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914B9F-A1A7-451D-8F54-42863EB6B6E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78564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9"/>
          <p:cNvSpPr>
            <a:spLocks noGrp="1" noChangeArrowheads="1"/>
          </p:cNvSpPr>
          <p:nvPr>
            <p:ph type="subTitle" idx="1"/>
          </p:nvPr>
        </p:nvSpPr>
        <p:spPr>
          <a:xfrm>
            <a:off x="2122489" y="4495801"/>
            <a:ext cx="7921625" cy="2016125"/>
          </a:xfrm>
        </p:spPr>
        <p:txBody>
          <a:bodyPr/>
          <a:lstStyle/>
          <a:p>
            <a:r>
              <a:rPr lang="zh-TW" altLang="en-US" sz="3200" b="1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使用</a:t>
            </a:r>
            <a:r>
              <a:rPr lang="zh-TW" altLang="en-US" sz="3200" b="1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環境 </a:t>
            </a:r>
            <a:r>
              <a:rPr lang="en-US" altLang="zh-TW" sz="3200" b="1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MS SQL SERVER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/>
            </a:r>
            <a:b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en-US" altLang="zh-TW" sz="3200" dirty="0" smtClean="0">
                <a:solidFill>
                  <a:srgbClr val="0000FF"/>
                </a:solidFill>
              </a:rPr>
              <a:t>SQL </a:t>
            </a:r>
            <a:r>
              <a:rPr lang="en-US" altLang="zh-TW" sz="3200" dirty="0">
                <a:solidFill>
                  <a:srgbClr val="0000FF"/>
                </a:solidFill>
              </a:rPr>
              <a:t>Server : </a:t>
            </a:r>
            <a:r>
              <a:rPr lang="en-US" altLang="zh-TW" sz="3200" dirty="0" smtClean="0">
                <a:solidFill>
                  <a:srgbClr val="0000FF"/>
                </a:solidFill>
              </a:rPr>
              <a:t>203.64.37.95</a:t>
            </a:r>
          </a:p>
        </p:txBody>
      </p:sp>
      <p:sp>
        <p:nvSpPr>
          <p:cNvPr id="3075" name="Rectangle 25"/>
          <p:cNvSpPr txBox="1">
            <a:spLocks noChangeArrowheads="1"/>
          </p:cNvSpPr>
          <p:nvPr/>
        </p:nvSpPr>
        <p:spPr bwMode="auto">
          <a:xfrm>
            <a:off x="1811339" y="852489"/>
            <a:ext cx="8713989" cy="2809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fontAlgn="base">
              <a:spcBef>
                <a:spcPct val="0"/>
              </a:spcBef>
              <a:spcAft>
                <a:spcPct val="0"/>
              </a:spcAft>
              <a:buNone/>
            </a:pPr>
            <a:r>
              <a:rPr lang="zh-TW" altLang="en-US" sz="6000" b="1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常用</a:t>
            </a:r>
            <a:r>
              <a:rPr lang="en-US" altLang="zh-TW" sz="6000" b="1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6000" b="1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必備</a:t>
            </a:r>
            <a:r>
              <a:rPr lang="en-US" altLang="zh-TW" sz="6000" b="1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)MS SQL</a:t>
            </a:r>
            <a:r>
              <a:rPr lang="zh-TW" altLang="en-US" sz="6000" b="1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語法</a:t>
            </a:r>
            <a:r>
              <a:rPr lang="en-US" altLang="zh-TW" sz="6000" b="1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-2</a:t>
            </a:r>
            <a:endParaRPr lang="en-US" altLang="zh-TW" sz="6000" b="1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076" name="投影片編號版面配置區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  <a:buNone/>
            </a:pPr>
            <a:fld id="{6CE61A05-D156-46F0-8A07-353635DF125A}" type="slidenum">
              <a:rPr lang="es-ES" altLang="zh-TW" sz="1400">
                <a:solidFill>
                  <a:srgbClr val="000000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buNone/>
              </a:pPr>
              <a:t>1</a:t>
            </a:fld>
            <a:endParaRPr lang="es-ES" altLang="zh-TW" sz="14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2923478"/>
      </p:ext>
    </p:extLst>
  </p:cSld>
  <p:clrMapOvr>
    <a:masterClrMapping/>
  </p:clrMapOvr>
  <p:transition spd="slow">
    <p:cut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07524" y="1987336"/>
            <a:ext cx="9144000" cy="2395194"/>
          </a:xfrm>
          <a:ln>
            <a:solidFill>
              <a:schemeClr val="accent1"/>
            </a:solidFill>
          </a:ln>
        </p:spPr>
        <p:txBody>
          <a:bodyPr anchor="ctr">
            <a:normAutofit/>
          </a:bodyPr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一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基礎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副標題 2"/>
          <p:cNvSpPr>
            <a:spLocks noGrp="1"/>
          </p:cNvSpPr>
          <p:nvPr>
            <p:ph type="subTitle" idx="1"/>
          </p:nvPr>
        </p:nvSpPr>
        <p:spPr>
          <a:xfrm>
            <a:off x="1507524" y="4779085"/>
            <a:ext cx="9144000" cy="1655762"/>
          </a:xfrm>
          <a:ln>
            <a:solidFill>
              <a:schemeClr val="accent1"/>
            </a:solidFill>
          </a:ln>
        </p:spPr>
        <p:txBody>
          <a:bodyPr>
            <a:normAutofit/>
          </a:bodyPr>
          <a:lstStyle/>
          <a:p>
            <a:endParaRPr lang="en-US" altLang="zh-TW" dirty="0" smtClean="0"/>
          </a:p>
          <a:p>
            <a:r>
              <a:rPr lang="en-US" altLang="zh-TW" sz="40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select</a:t>
            </a:r>
            <a:r>
              <a:rPr lang="zh-TW" altLang="en-US" sz="40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、 </a:t>
            </a:r>
            <a:r>
              <a:rPr lang="en-US" altLang="zh-TW" sz="40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update</a:t>
            </a:r>
            <a:r>
              <a:rPr lang="zh-TW" altLang="en-US" sz="40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、 </a:t>
            </a:r>
            <a:r>
              <a:rPr lang="en-US" altLang="zh-TW" sz="40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delete</a:t>
            </a:r>
            <a:r>
              <a:rPr lang="zh-TW" altLang="en-US" sz="40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、 </a:t>
            </a:r>
            <a:r>
              <a:rPr lang="en-US" altLang="zh-TW" sz="40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insert</a:t>
            </a:r>
          </a:p>
        </p:txBody>
      </p:sp>
    </p:spTree>
    <p:extLst>
      <p:ext uri="{BB962C8B-B14F-4D97-AF65-F5344CB8AC3E}">
        <p14:creationId xmlns:p14="http://schemas.microsoft.com/office/powerpoint/2010/main" val="2598534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3791758"/>
              </p:ext>
            </p:extLst>
          </p:nvPr>
        </p:nvGraphicFramePr>
        <p:xfrm>
          <a:off x="329470" y="1818541"/>
          <a:ext cx="11591426" cy="560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0746">
                  <a:extLst>
                    <a:ext uri="{9D8B030D-6E8A-4147-A177-3AD203B41FA5}">
                      <a16:colId xmlns:a16="http://schemas.microsoft.com/office/drawing/2014/main" val="1226025319"/>
                    </a:ext>
                  </a:extLst>
                </a:gridCol>
                <a:gridCol w="6351373">
                  <a:extLst>
                    <a:ext uri="{9D8B030D-6E8A-4147-A177-3AD203B41FA5}">
                      <a16:colId xmlns:a16="http://schemas.microsoft.com/office/drawing/2014/main" val="3443298574"/>
                    </a:ext>
                  </a:extLst>
                </a:gridCol>
                <a:gridCol w="4729307">
                  <a:extLst>
                    <a:ext uri="{9D8B030D-6E8A-4147-A177-3AD203B41FA5}">
                      <a16:colId xmlns:a16="http://schemas.microsoft.com/office/drawing/2014/main" val="37326065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列出 </a:t>
                      </a: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-</a:t>
                      </a: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物品主檔  </a:t>
                      </a:r>
                      <a:r>
                        <a:rPr lang="en-US" altLang="zh-TW" dirty="0" err="1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ProductTbl</a:t>
                      </a: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188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序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SQL Statement</a:t>
                      </a: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73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Select</a:t>
                      </a:r>
                      <a:r>
                        <a:rPr lang="en-US" altLang="zh-TW" baseline="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* from </a:t>
                      </a:r>
                      <a:r>
                        <a:rPr lang="en-US" altLang="zh-TW" dirty="0" err="1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ProductTbl</a:t>
                      </a:r>
                      <a:endParaRPr lang="en-US" altLang="zh-TW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最常用</a:t>
                      </a: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, </a:t>
                      </a:r>
                      <a:r>
                        <a:rPr lang="en-US" altLang="zh-TW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*</a:t>
                      </a: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在</a:t>
                      </a: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MSSQL</a:t>
                      </a: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是代表</a:t>
                      </a: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[</a:t>
                      </a: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所有的欄位</a:t>
                      </a: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]</a:t>
                      </a:r>
                      <a:endParaRPr lang="en-US" altLang="zh-TW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4659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select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chProdNo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,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chProdName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,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chUnit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,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rlStockQty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,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       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rlInpPrice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  ,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rlSellPrice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  ,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chCreatDateTime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 from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ProductTbl</a:t>
                      </a:r>
                      <a:endParaRPr lang="en-US" altLang="zh-TW" sz="1800" kern="1200" dirty="0" smtClean="0">
                        <a:solidFill>
                          <a:schemeClr val="dk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800" kern="1200" dirty="0" smtClean="0">
                        <a:solidFill>
                          <a:schemeClr val="dk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明確指出要</a:t>
                      </a: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select</a:t>
                      </a: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出</a:t>
                      </a:r>
                      <a:r>
                        <a:rPr lang="en-US" altLang="zh-TW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[</a:t>
                      </a:r>
                      <a:r>
                        <a:rPr lang="zh-TW" altLang="en-US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那些欄位</a:t>
                      </a:r>
                      <a:r>
                        <a:rPr lang="en-US" altLang="zh-TW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]</a:t>
                      </a:r>
                      <a:endParaRPr lang="zh-TW" altLang="en-US" dirty="0" smtClean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33221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Q1</a:t>
                      </a:r>
                      <a:endParaRPr lang="zh-TW" altLang="en-US" dirty="0" smtClean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請說明</a:t>
                      </a: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</a:t>
                      </a: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上述</a:t>
                      </a: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 &amp; 2</a:t>
                      </a: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者有何不同</a:t>
                      </a: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?</a:t>
                      </a:r>
                      <a:endParaRPr lang="en-US" altLang="zh-TW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功能相同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28185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 smtClean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6730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Select</a:t>
                      </a:r>
                      <a:r>
                        <a:rPr lang="en-US" altLang="zh-TW" baseline="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* from </a:t>
                      </a:r>
                      <a:r>
                        <a:rPr lang="en-US" altLang="zh-TW" dirty="0" err="1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ProductTbl</a:t>
                      </a: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altLang="zh-TW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(</a:t>
                      </a:r>
                      <a:r>
                        <a:rPr lang="en-US" altLang="zh-TW" dirty="0" err="1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nolock</a:t>
                      </a:r>
                      <a:r>
                        <a:rPr lang="en-US" altLang="zh-TW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dirty="0" smtClean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最適用 </a:t>
                      </a:r>
                      <a:r>
                        <a:rPr lang="en-US" altLang="zh-TW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(dirty</a:t>
                      </a:r>
                      <a:r>
                        <a:rPr lang="en-US" altLang="zh-TW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read)</a:t>
                      </a:r>
                      <a:endParaRPr lang="zh-TW" altLang="en-US" dirty="0" smtClean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3819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4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Select</a:t>
                      </a:r>
                      <a:r>
                        <a:rPr lang="en-US" altLang="zh-TW" baseline="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* from </a:t>
                      </a:r>
                      <a:r>
                        <a:rPr lang="en-US" altLang="zh-TW" baseline="0" dirty="0" err="1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DB_TEST.dbo.</a:t>
                      </a:r>
                      <a:r>
                        <a:rPr lang="en-US" altLang="zh-TW" dirty="0" err="1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ProductTbl</a:t>
                      </a: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(</a:t>
                      </a:r>
                      <a:r>
                        <a:rPr lang="en-US" altLang="zh-TW" dirty="0" err="1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nolock</a:t>
                      </a: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dirty="0" smtClean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指名</a:t>
                      </a:r>
                      <a:r>
                        <a:rPr lang="en-US" altLang="zh-TW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DB.</a:t>
                      </a:r>
                      <a:r>
                        <a:rPr lang="zh-TW" altLang="en-US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資料表建立人</a:t>
                      </a:r>
                      <a:r>
                        <a:rPr lang="en-US" altLang="zh-TW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.</a:t>
                      </a:r>
                      <a:endParaRPr lang="zh-TW" altLang="en-US" dirty="0" smtClean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496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5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Select</a:t>
                      </a:r>
                      <a:r>
                        <a:rPr lang="en-US" altLang="zh-TW" baseline="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* from </a:t>
                      </a:r>
                      <a:r>
                        <a:rPr lang="en-US" altLang="zh-TW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DB_TEST..</a:t>
                      </a:r>
                      <a:r>
                        <a:rPr lang="en-US" altLang="zh-TW" dirty="0" err="1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ProductTbl</a:t>
                      </a: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(</a:t>
                      </a:r>
                      <a:r>
                        <a:rPr lang="en-US" altLang="zh-TW" dirty="0" err="1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nolock</a:t>
                      </a: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dirty="0" smtClean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指名</a:t>
                      </a:r>
                      <a:r>
                        <a:rPr lang="en-US" altLang="zh-TW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DB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但不指名</a:t>
                      </a:r>
                      <a:r>
                        <a:rPr lang="en-US" altLang="zh-TW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</a:t>
                      </a:r>
                      <a:r>
                        <a:rPr lang="zh-TW" altLang="en-US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資料表建立人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9359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dirty="0" smtClean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 smtClean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954936"/>
                  </a:ext>
                </a:extLst>
              </a:tr>
            </a:tbl>
          </a:graphicData>
        </a:graphic>
      </p:graphicFrame>
      <p:sp>
        <p:nvSpPr>
          <p:cNvPr id="5" name="標題 1"/>
          <p:cNvSpPr>
            <a:spLocks noGrp="1"/>
          </p:cNvSpPr>
          <p:nvPr>
            <p:ph type="title"/>
          </p:nvPr>
        </p:nvSpPr>
        <p:spPr>
          <a:xfrm>
            <a:off x="867383" y="209482"/>
            <a:ext cx="10515600" cy="1325563"/>
          </a:xfrm>
          <a:ln>
            <a:solidFill>
              <a:schemeClr val="accent1"/>
            </a:solidFill>
          </a:ln>
        </p:spPr>
        <p:txBody>
          <a:bodyPr/>
          <a:lstStyle/>
          <a:p>
            <a:pPr algn="ctr"/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1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.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simple 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select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 statement 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962645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64059" y="101515"/>
            <a:ext cx="10515600" cy="804648"/>
          </a:xfrm>
          <a:ln>
            <a:solidFill>
              <a:schemeClr val="accent1"/>
            </a:solidFill>
          </a:ln>
        </p:spPr>
        <p:txBody>
          <a:bodyPr/>
          <a:lstStyle/>
          <a:p>
            <a:pPr algn="ctr"/>
            <a:r>
              <a:rPr lang="en-US" altLang="zh-TW" dirty="0"/>
              <a:t>2</a:t>
            </a:r>
            <a:r>
              <a:rPr lang="en-US" altLang="zh-TW" dirty="0" smtClean="0"/>
              <a:t>. </a:t>
            </a:r>
            <a:r>
              <a:rPr lang="zh-TW" altLang="en-US" dirty="0" smtClean="0"/>
              <a:t>條件</a:t>
            </a:r>
            <a:r>
              <a:rPr lang="en-US" altLang="zh-TW" dirty="0" smtClean="0">
                <a:solidFill>
                  <a:srgbClr val="FF0000"/>
                </a:solidFill>
              </a:rPr>
              <a:t>where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en-US" altLang="zh-TW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wildcard </a:t>
            </a:r>
            <a:r>
              <a:rPr lang="en-US" altLang="zh-TW" dirty="0" smtClean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%</a:t>
            </a:r>
            <a:r>
              <a:rPr lang="en-US" altLang="zh-TW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 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en-US" altLang="zh-TW" dirty="0" smtClean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left join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5163561"/>
              </p:ext>
            </p:extLst>
          </p:nvPr>
        </p:nvGraphicFramePr>
        <p:xfrm>
          <a:off x="201827" y="1032703"/>
          <a:ext cx="11640064" cy="5679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3339">
                  <a:extLst>
                    <a:ext uri="{9D8B030D-6E8A-4147-A177-3AD203B41FA5}">
                      <a16:colId xmlns:a16="http://schemas.microsoft.com/office/drawing/2014/main" val="1226025319"/>
                    </a:ext>
                  </a:extLst>
                </a:gridCol>
                <a:gridCol w="7207872">
                  <a:extLst>
                    <a:ext uri="{9D8B030D-6E8A-4147-A177-3AD203B41FA5}">
                      <a16:colId xmlns:a16="http://schemas.microsoft.com/office/drawing/2014/main" val="3443298574"/>
                    </a:ext>
                  </a:extLst>
                </a:gridCol>
                <a:gridCol w="3908853">
                  <a:extLst>
                    <a:ext uri="{9D8B030D-6E8A-4147-A177-3AD203B41FA5}">
                      <a16:colId xmlns:a16="http://schemas.microsoft.com/office/drawing/2014/main" val="37326065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列出指定月份</a:t>
                      </a: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-</a:t>
                      </a: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進貨明細 </a:t>
                      </a:r>
                      <a:r>
                        <a:rPr lang="en-US" altLang="zh-TW" dirty="0" err="1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InputDetailTbl</a:t>
                      </a: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188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序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SQL Statement</a:t>
                      </a: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73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select * from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InputDetailTbl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nolock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lang="en-US" altLang="zh-TW" sz="18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where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like '11103</a:t>
                      </a:r>
                      <a:r>
                        <a:rPr lang="en-US" altLang="zh-TW" sz="18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%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</a:t>
                      </a:r>
                      <a:endParaRPr lang="zh-TW" altLang="en-US" sz="1800" kern="1200" dirty="0" smtClean="0">
                        <a:solidFill>
                          <a:schemeClr val="dk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讀出某一</a:t>
                      </a: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月份所有進貨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Detail 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使用 </a:t>
                      </a:r>
                      <a:r>
                        <a:rPr lang="en-US" altLang="zh-TW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Where,</a:t>
                      </a:r>
                      <a:r>
                        <a:rPr lang="zh-TW" altLang="en-US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日期抓前</a:t>
                      </a:r>
                      <a:r>
                        <a:rPr lang="en-US" altLang="zh-TW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5</a:t>
                      </a:r>
                      <a:r>
                        <a:rPr lang="zh-TW" altLang="en-US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碼</a:t>
                      </a:r>
                      <a:r>
                        <a:rPr lang="en-US" altLang="zh-TW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+</a:t>
                      </a:r>
                      <a:r>
                        <a:rPr lang="zh-TW" altLang="en-US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符號</a:t>
                      </a:r>
                      <a:r>
                        <a:rPr lang="en-US" altLang="zh-TW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%</a:t>
                      </a:r>
                      <a:endParaRPr lang="zh-TW" altLang="en-US" dirty="0" smtClean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4659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select </a:t>
                      </a:r>
                      <a:r>
                        <a:rPr lang="zh-TW" altLang="en-US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進貨日期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</a:t>
                      </a:r>
                      <a:r>
                        <a:rPr lang="zh-TW" altLang="en-US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left(chInpDateTime,3)+'/'+ substring(chInpDateTime,3,2)+'/'+substring(chInpDateTime,5,2),</a:t>
                      </a:r>
                    </a:p>
                    <a:p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a.chFactNo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zh-TW" sz="1800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b.chFactName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a.chProdNo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zh-TW" sz="1800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c.chProdName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a.rlInpQty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a.rlInpPrice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a.rlInpAmt</a:t>
                      </a:r>
                      <a:endParaRPr lang="en-US" altLang="zh-TW" sz="1800" kern="120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from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InputDetailTbl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nolock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a</a:t>
                      </a:r>
                    </a:p>
                    <a:p>
                      <a:r>
                        <a:rPr lang="en-US" altLang="zh-TW" sz="18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left join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FactoryTbl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nolock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b on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a.chFactNo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b.chFactNo</a:t>
                      </a:r>
                      <a:endParaRPr lang="en-US" altLang="zh-TW" sz="1800" kern="120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zh-TW" sz="18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left join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ProductTbl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nolock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c on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a.chProdNo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c.chProdNo</a:t>
                      </a:r>
                      <a:endParaRPr lang="en-US" altLang="zh-TW" sz="1800" kern="120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where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like '11103%'</a:t>
                      </a: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同上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/>
                      </a:r>
                      <a:b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</a:b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為增加可讀性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/>
                      </a:r>
                      <a:b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</a:b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1.</a:t>
                      </a:r>
                      <a:r>
                        <a:rPr lang="zh-TW" altLang="en-US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增加廠商名稱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,</a:t>
                      </a: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必須使用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left join b</a:t>
                      </a:r>
                      <a:b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</a:b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2.</a:t>
                      </a:r>
                      <a:r>
                        <a:rPr lang="zh-TW" altLang="en-US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增加物品名稱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,</a:t>
                      </a: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必須使用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left join c</a:t>
                      </a: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rgbClr val="7030A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註</a:t>
                      </a:r>
                      <a:r>
                        <a:rPr lang="en-US" altLang="zh-TW" dirty="0" smtClean="0">
                          <a:solidFill>
                            <a:srgbClr val="7030A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</a:t>
                      </a:r>
                      <a:r>
                        <a:rPr lang="zh-TW" altLang="en-US" dirty="0" smtClean="0">
                          <a:solidFill>
                            <a:srgbClr val="7030A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與</a:t>
                      </a:r>
                      <a:r>
                        <a:rPr lang="en-US" altLang="zh-TW" dirty="0" smtClean="0">
                          <a:solidFill>
                            <a:srgbClr val="7030A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inner</a:t>
                      </a:r>
                      <a:r>
                        <a:rPr lang="en-US" altLang="zh-TW" baseline="0" dirty="0" smtClean="0">
                          <a:solidFill>
                            <a:srgbClr val="7030A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join </a:t>
                      </a:r>
                      <a:r>
                        <a:rPr lang="zh-TW" altLang="en-US" baseline="0" dirty="0" smtClean="0">
                          <a:solidFill>
                            <a:srgbClr val="7030A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的不同處</a:t>
                      </a:r>
                      <a:endParaRPr lang="zh-TW" altLang="en-US" dirty="0" smtClean="0">
                        <a:solidFill>
                          <a:srgbClr val="7030A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33221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</a:t>
                      </a:r>
                      <a:endParaRPr lang="zh-TW" altLang="en-US" dirty="0" smtClean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select </a:t>
                      </a:r>
                      <a:r>
                        <a:rPr lang="zh-TW" altLang="en-US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進貨日期</a:t>
                      </a:r>
                      <a:r>
                        <a:rPr lang="en-US" altLang="zh-TW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</a:t>
                      </a:r>
                      <a:r>
                        <a:rPr lang="zh-TW" altLang="en-US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TW" sz="1400" kern="1200" dirty="0" smtClean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left(chInpDateTime,3)+'/'+ substring(chInpDateTime,3,2)+'/'+substring(chInpDateTime,5,2)+' '+substring(chInpDateTime,7,2)+':'+substring(chInpDateTime,9,2),</a:t>
                      </a:r>
                    </a:p>
                    <a:p>
                      <a:r>
                        <a:rPr lang="en-US" altLang="zh-TW" sz="1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a.chFactNo</a:t>
                      </a:r>
                      <a:r>
                        <a:rPr lang="en-US" altLang="zh-TW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TW" altLang="en-US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廠商名稱</a:t>
                      </a:r>
                      <a:r>
                        <a:rPr lang="en-US" altLang="zh-TW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</a:t>
                      </a:r>
                      <a:r>
                        <a:rPr lang="en-US" altLang="zh-TW" sz="1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b.chFactName</a:t>
                      </a:r>
                      <a:r>
                        <a:rPr lang="en-US" altLang="zh-TW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zh-TW" sz="1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a.chProdNo</a:t>
                      </a:r>
                      <a:r>
                        <a:rPr lang="en-US" altLang="zh-TW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TW" altLang="en-US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物品名稱</a:t>
                      </a:r>
                      <a:r>
                        <a:rPr lang="en-US" altLang="zh-TW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</a:t>
                      </a:r>
                      <a:r>
                        <a:rPr lang="en-US" altLang="zh-TW" sz="1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c.chProdName</a:t>
                      </a:r>
                      <a:r>
                        <a:rPr lang="en-US" altLang="zh-TW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r>
                        <a:rPr lang="en-US" altLang="zh-TW" sz="1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a.rlInpQty</a:t>
                      </a:r>
                      <a:r>
                        <a:rPr lang="en-US" altLang="zh-TW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zh-TW" sz="1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a.rlInpPrice</a:t>
                      </a:r>
                      <a:r>
                        <a:rPr lang="en-US" altLang="zh-TW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zh-TW" sz="1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a.rlInpAmt</a:t>
                      </a:r>
                      <a:endParaRPr lang="en-US" altLang="zh-TW" sz="1400" kern="120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zh-TW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from </a:t>
                      </a:r>
                      <a:r>
                        <a:rPr lang="en-US" altLang="zh-TW" sz="1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InputDetailTbl</a:t>
                      </a:r>
                      <a:r>
                        <a:rPr lang="en-US" altLang="zh-TW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TW" sz="1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nolock</a:t>
                      </a:r>
                      <a:r>
                        <a:rPr lang="en-US" altLang="zh-TW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a</a:t>
                      </a:r>
                    </a:p>
                    <a:p>
                      <a:r>
                        <a:rPr lang="en-US" altLang="zh-TW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left join </a:t>
                      </a:r>
                      <a:r>
                        <a:rPr lang="en-US" altLang="zh-TW" sz="1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FactoryTbl</a:t>
                      </a:r>
                      <a:r>
                        <a:rPr lang="en-US" altLang="zh-TW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TW" sz="1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nolock</a:t>
                      </a:r>
                      <a:r>
                        <a:rPr lang="en-US" altLang="zh-TW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b on </a:t>
                      </a:r>
                      <a:r>
                        <a:rPr lang="en-US" altLang="zh-TW" sz="1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a.chFactNo</a:t>
                      </a:r>
                      <a:r>
                        <a:rPr lang="en-US" altLang="zh-TW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</a:t>
                      </a:r>
                      <a:r>
                        <a:rPr lang="en-US" altLang="zh-TW" sz="1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b.chFactNo</a:t>
                      </a:r>
                      <a:endParaRPr lang="en-US" altLang="zh-TW" sz="1400" kern="120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zh-TW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left join </a:t>
                      </a:r>
                      <a:r>
                        <a:rPr lang="en-US" altLang="zh-TW" sz="1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ProductTbl</a:t>
                      </a:r>
                      <a:r>
                        <a:rPr lang="en-US" altLang="zh-TW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TW" sz="1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nolock</a:t>
                      </a:r>
                      <a:r>
                        <a:rPr lang="en-US" altLang="zh-TW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c on </a:t>
                      </a:r>
                      <a:r>
                        <a:rPr lang="en-US" altLang="zh-TW" sz="1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a.chProdNo</a:t>
                      </a:r>
                      <a:r>
                        <a:rPr lang="en-US" altLang="zh-TW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</a:t>
                      </a:r>
                      <a:r>
                        <a:rPr lang="en-US" altLang="zh-TW" sz="1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c.chProdNo</a:t>
                      </a:r>
                      <a:endParaRPr lang="en-US" altLang="zh-TW" sz="1400" kern="120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zh-TW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where </a:t>
                      </a:r>
                      <a:r>
                        <a:rPr lang="en-US" altLang="zh-TW" sz="1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like '11103%'</a:t>
                      </a:r>
                      <a:endParaRPr lang="zh-TW" altLang="en-US" sz="1400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同上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  <a:b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增加</a:t>
                      </a:r>
                      <a:r>
                        <a:rPr lang="en-US" altLang="zh-TW" sz="1800" kern="1200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:</a:t>
                      </a:r>
                      <a:r>
                        <a:rPr lang="zh-TW" altLang="en-US" sz="1800" kern="1200" baseline="0" dirty="0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進貨日期的可讀性</a:t>
                      </a:r>
                      <a:endParaRPr lang="en-US" altLang="zh-TW" sz="1800" kern="1200" baseline="0" dirty="0" smtClean="0">
                        <a:solidFill>
                          <a:srgbClr val="0000FF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28185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62593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64059" y="241557"/>
            <a:ext cx="10515600" cy="1092973"/>
          </a:xfrm>
          <a:ln>
            <a:solidFill>
              <a:schemeClr val="accent1"/>
            </a:solidFill>
          </a:ln>
        </p:spPr>
        <p:txBody>
          <a:bodyPr>
            <a:normAutofit/>
          </a:bodyPr>
          <a:lstStyle/>
          <a:p>
            <a:pPr algn="ctr"/>
            <a:r>
              <a:rPr lang="en-US" altLang="zh-TW" dirty="0"/>
              <a:t>3</a:t>
            </a:r>
            <a:r>
              <a:rPr lang="en-US" altLang="zh-TW" dirty="0" smtClean="0"/>
              <a:t>. 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加總</a:t>
            </a:r>
            <a:r>
              <a:rPr lang="en-US" altLang="zh-TW" dirty="0" smtClean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group by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7272111"/>
              </p:ext>
            </p:extLst>
          </p:nvPr>
        </p:nvGraphicFramePr>
        <p:xfrm>
          <a:off x="201827" y="1477546"/>
          <a:ext cx="11640064" cy="504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3339">
                  <a:extLst>
                    <a:ext uri="{9D8B030D-6E8A-4147-A177-3AD203B41FA5}">
                      <a16:colId xmlns:a16="http://schemas.microsoft.com/office/drawing/2014/main" val="1226025319"/>
                    </a:ext>
                  </a:extLst>
                </a:gridCol>
                <a:gridCol w="6507969">
                  <a:extLst>
                    <a:ext uri="{9D8B030D-6E8A-4147-A177-3AD203B41FA5}">
                      <a16:colId xmlns:a16="http://schemas.microsoft.com/office/drawing/2014/main" val="3443298574"/>
                    </a:ext>
                  </a:extLst>
                </a:gridCol>
                <a:gridCol w="4608756">
                  <a:extLst>
                    <a:ext uri="{9D8B030D-6E8A-4147-A177-3AD203B41FA5}">
                      <a16:colId xmlns:a16="http://schemas.microsoft.com/office/drawing/2014/main" val="37326065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老闆想知道下個月初需付多少錢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188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序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SQL Statement</a:t>
                      </a: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73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select * from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InputHeadTbl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 (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nolock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) </a:t>
                      </a:r>
                      <a:r>
                        <a:rPr lang="en-US" altLang="zh-TW" sz="1800" kern="120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where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 </a:t>
                      </a:r>
                      <a:r>
                        <a:rPr lang="en-US" altLang="zh-TW" sz="1800" kern="120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like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 '11103</a:t>
                      </a:r>
                      <a:r>
                        <a:rPr lang="en-US" altLang="zh-TW" sz="1800" b="1" kern="120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%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'</a:t>
                      </a:r>
                    </a:p>
                    <a:p>
                      <a:endParaRPr lang="zh-TW" altLang="en-US" sz="1800" kern="1200" dirty="0" smtClean="0">
                        <a:solidFill>
                          <a:schemeClr val="dk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抓某一</a:t>
                      </a: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月份所有的進貨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Head 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使用 </a:t>
                      </a:r>
                      <a:r>
                        <a:rPr lang="en-US" altLang="zh-TW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Where</a:t>
                      </a:r>
                      <a:br>
                        <a:rPr lang="en-US" altLang="zh-TW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</a:br>
                      <a:r>
                        <a:rPr lang="zh-TW" altLang="en-US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日期抓前</a:t>
                      </a:r>
                      <a:r>
                        <a:rPr lang="en-US" altLang="zh-TW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5</a:t>
                      </a:r>
                      <a:r>
                        <a:rPr lang="zh-TW" altLang="en-US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碼</a:t>
                      </a:r>
                      <a:r>
                        <a:rPr lang="en-US" altLang="zh-TW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+</a:t>
                      </a:r>
                      <a:r>
                        <a:rPr lang="zh-TW" altLang="en-US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符號</a:t>
                      </a:r>
                      <a:r>
                        <a:rPr lang="en-US" altLang="zh-TW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%</a:t>
                      </a:r>
                      <a:endParaRPr lang="zh-TW" altLang="en-US" dirty="0" smtClean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4659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select * from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InputDetailTbl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 (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nolock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) </a:t>
                      </a:r>
                      <a:r>
                        <a:rPr lang="en-US" altLang="zh-TW" sz="1800" kern="1200" dirty="0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where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 </a:t>
                      </a:r>
                      <a:r>
                        <a:rPr lang="en-US" altLang="zh-TW" sz="1800" kern="1200" dirty="0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like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 '11103</a:t>
                      </a:r>
                      <a:r>
                        <a:rPr lang="en-US" altLang="zh-TW" sz="1800" kern="1200" dirty="0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%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+mn-cs"/>
                        </a:rPr>
                        <a:t>'</a:t>
                      </a: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抓某一</a:t>
                      </a: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月份所有的進貨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Detail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說明同上</a:t>
                      </a: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33221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17525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</a:t>
                      </a:r>
                      <a:endParaRPr lang="zh-TW" altLang="en-US" dirty="0" smtClean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select </a:t>
                      </a:r>
                      <a:r>
                        <a:rPr lang="en-US" altLang="zh-TW" sz="18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'</a:t>
                      </a:r>
                      <a:r>
                        <a:rPr lang="zh-TW" altLang="en-US" sz="18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進貨月份</a:t>
                      </a:r>
                      <a:r>
                        <a:rPr lang="en-US" altLang="zh-TW" sz="18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'=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left(chInpDateTime,5), </a:t>
                      </a:r>
                      <a:r>
                        <a:rPr lang="zh-TW" altLang="en-US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需付金額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=sum(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rlInpTotAmt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</a:p>
                    <a:p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from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InputHeadTbl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nolock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lang="en-US" altLang="zh-TW" sz="18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where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like '11103%' </a:t>
                      </a:r>
                      <a:r>
                        <a:rPr lang="en-US" altLang="zh-TW" sz="18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group by 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left(chInpDateTime,5)</a:t>
                      </a: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老闆想知道下個月初需付多少錢</a:t>
                      </a: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/>
                      </a:r>
                      <a:b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</a:br>
                      <a:r>
                        <a:rPr lang="zh-TW" altLang="en-US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除了</a:t>
                      </a:r>
                      <a:r>
                        <a:rPr lang="en-US" altLang="zh-TW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Where</a:t>
                      </a: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進貨</a:t>
                      </a: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Head</a:t>
                      </a: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日期抓前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5</a:t>
                      </a: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碼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en-US" altLang="zh-TW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/>
                      </a:r>
                      <a:br>
                        <a:rPr lang="en-US" altLang="zh-TW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</a:br>
                      <a:r>
                        <a:rPr lang="zh-TW" altLang="en-US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還用了</a:t>
                      </a:r>
                      <a:r>
                        <a:rPr lang="en-US" altLang="zh-TW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group by (</a:t>
                      </a:r>
                      <a:r>
                        <a:rPr lang="zh-TW" altLang="en-US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分群組</a:t>
                      </a:r>
                      <a:r>
                        <a:rPr lang="en-US" altLang="zh-TW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)</a:t>
                      </a:r>
                      <a:endParaRPr lang="en-US" altLang="zh-TW" dirty="0" smtClean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28185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4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select </a:t>
                      </a:r>
                      <a:r>
                        <a:rPr lang="en-US" altLang="zh-TW" sz="1800" kern="1200" dirty="0" smtClean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'</a:t>
                      </a:r>
                      <a:r>
                        <a:rPr lang="zh-TW" altLang="en-US" sz="1800" kern="1200" dirty="0" smtClean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進貨月份</a:t>
                      </a:r>
                      <a:r>
                        <a:rPr lang="en-US" altLang="zh-TW" sz="1800" kern="1200" dirty="0" smtClean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'=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left(chInpDateTime,5), </a:t>
                      </a:r>
                      <a:r>
                        <a:rPr lang="zh-TW" altLang="en-US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需付金額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=sum(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rlInpAmt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</a:p>
                    <a:p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from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InputDetailTbl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nolock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where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like '11103%' </a:t>
                      </a:r>
                      <a:r>
                        <a:rPr lang="en-US" altLang="zh-TW" sz="1800" kern="1200" dirty="0" smtClean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group by 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left(chInpDateTime,5)</a:t>
                      </a: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b="1" dirty="0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Select</a:t>
                      </a:r>
                      <a:r>
                        <a:rPr lang="en-US" altLang="zh-TW" b="1" baseline="0" dirty="0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b="1" baseline="0" dirty="0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進貨</a:t>
                      </a:r>
                      <a:r>
                        <a:rPr lang="en-US" altLang="zh-TW" b="1" baseline="0" dirty="0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Detail,</a:t>
                      </a:r>
                      <a:r>
                        <a:rPr lang="zh-TW" altLang="en-US" b="1" baseline="0" dirty="0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也有同上的效果</a:t>
                      </a:r>
                      <a:r>
                        <a:rPr lang="en-US" altLang="zh-TW" b="1" baseline="0" dirty="0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~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/>
                      </a:r>
                      <a:b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</a:b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思考一下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</a:t>
                      </a: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有需要同時存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Head</a:t>
                      </a: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及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Detail</a:t>
                      </a: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，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/>
                      </a:r>
                      <a:b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</a:b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</a:t>
                      </a: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個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Table</a:t>
                      </a: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嗎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?</a:t>
                      </a: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38198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03041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64059" y="241557"/>
            <a:ext cx="10515600" cy="1092973"/>
          </a:xfrm>
          <a:ln>
            <a:solidFill>
              <a:schemeClr val="accent1"/>
            </a:solidFill>
          </a:ln>
        </p:spPr>
        <p:txBody>
          <a:bodyPr>
            <a:normAutofit/>
          </a:bodyPr>
          <a:lstStyle/>
          <a:p>
            <a:pPr algn="ctr"/>
            <a:r>
              <a:rPr lang="en-US" altLang="zh-TW" dirty="0"/>
              <a:t>4</a:t>
            </a:r>
            <a:r>
              <a:rPr lang="en-US" altLang="zh-TW" dirty="0" smtClean="0"/>
              <a:t>. </a:t>
            </a:r>
            <a:r>
              <a:rPr lang="en-US" altLang="zh-TW" dirty="0" smtClean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having sum()</a:t>
            </a:r>
            <a:r>
              <a:rPr lang="zh-TW" altLang="en-US" dirty="0" smtClean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en-US" altLang="zh-TW" dirty="0" smtClean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order by (</a:t>
            </a:r>
            <a:r>
              <a:rPr lang="en-US" altLang="zh-TW" dirty="0" err="1" smtClean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desc</a:t>
            </a:r>
            <a:r>
              <a:rPr lang="en-US" altLang="zh-TW" dirty="0" smtClean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)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0953833"/>
              </p:ext>
            </p:extLst>
          </p:nvPr>
        </p:nvGraphicFramePr>
        <p:xfrm>
          <a:off x="201827" y="1477545"/>
          <a:ext cx="11640064" cy="39699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3339">
                  <a:extLst>
                    <a:ext uri="{9D8B030D-6E8A-4147-A177-3AD203B41FA5}">
                      <a16:colId xmlns:a16="http://schemas.microsoft.com/office/drawing/2014/main" val="1226025319"/>
                    </a:ext>
                  </a:extLst>
                </a:gridCol>
                <a:gridCol w="6507969">
                  <a:extLst>
                    <a:ext uri="{9D8B030D-6E8A-4147-A177-3AD203B41FA5}">
                      <a16:colId xmlns:a16="http://schemas.microsoft.com/office/drawing/2014/main" val="3443298574"/>
                    </a:ext>
                  </a:extLst>
                </a:gridCol>
                <a:gridCol w="4608756">
                  <a:extLst>
                    <a:ext uri="{9D8B030D-6E8A-4147-A177-3AD203B41FA5}">
                      <a16:colId xmlns:a16="http://schemas.microsoft.com/office/drawing/2014/main" val="3732606518"/>
                    </a:ext>
                  </a:extLst>
                </a:gridCol>
              </a:tblGrid>
              <a:tr h="542996"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老闆想知道</a:t>
                      </a: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</a:t>
                      </a: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今年跟每個廠商進貨的總金額各為多少</a:t>
                      </a: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, </a:t>
                      </a: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由高至底列出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188803"/>
                  </a:ext>
                </a:extLst>
              </a:tr>
              <a:tr h="542996"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序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SQL Statement</a:t>
                      </a: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73917"/>
                  </a:ext>
                </a:extLst>
              </a:tr>
              <a:tr h="2883951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select '</a:t>
                      </a:r>
                      <a:r>
                        <a:rPr lang="zh-TW" altLang="en-US" sz="2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進貨年份</a:t>
                      </a:r>
                      <a:r>
                        <a:rPr lang="en-US" altLang="zh-TW" sz="2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'=left(chInpDateTime,3), </a:t>
                      </a:r>
                      <a:r>
                        <a:rPr lang="en-US" altLang="zh-TW" sz="2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chFactNo</a:t>
                      </a:r>
                      <a:r>
                        <a:rPr lang="en-US" altLang="zh-TW" sz="2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TW" altLang="en-US" sz="2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採購金額</a:t>
                      </a:r>
                      <a:r>
                        <a:rPr lang="en-US" altLang="zh-TW" sz="2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=sum(</a:t>
                      </a:r>
                      <a:r>
                        <a:rPr lang="en-US" altLang="zh-TW" sz="2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rlInpTotAmt</a:t>
                      </a:r>
                      <a:r>
                        <a:rPr lang="en-US" altLang="zh-TW" sz="2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</a:p>
                    <a:p>
                      <a:r>
                        <a:rPr lang="en-US" altLang="zh-TW" sz="2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from </a:t>
                      </a:r>
                      <a:r>
                        <a:rPr lang="en-US" altLang="zh-TW" sz="2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InputHeadTbl</a:t>
                      </a:r>
                      <a:r>
                        <a:rPr lang="en-US" altLang="zh-TW" sz="2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TW" sz="2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nolock</a:t>
                      </a:r>
                      <a:r>
                        <a:rPr lang="en-US" altLang="zh-TW" sz="2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</a:p>
                    <a:p>
                      <a:r>
                        <a:rPr lang="en-US" altLang="zh-TW" sz="2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where </a:t>
                      </a:r>
                      <a:r>
                        <a:rPr lang="en-US" altLang="zh-TW" sz="2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2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like '111%' </a:t>
                      </a:r>
                    </a:p>
                    <a:p>
                      <a:r>
                        <a:rPr lang="en-US" altLang="zh-TW" sz="2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group by left(chInpDateTime,3), </a:t>
                      </a:r>
                      <a:r>
                        <a:rPr lang="en-US" altLang="zh-TW" sz="2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chFactNo</a:t>
                      </a:r>
                      <a:endParaRPr lang="en-US" altLang="zh-TW" sz="2400" kern="120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zh-TW" sz="2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  <a:r>
                        <a:rPr lang="en-US" altLang="zh-TW" sz="2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having</a:t>
                      </a:r>
                      <a:r>
                        <a:rPr lang="en-US" altLang="zh-TW" sz="2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TW" sz="2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sum</a:t>
                      </a:r>
                      <a:r>
                        <a:rPr lang="en-US" altLang="zh-TW" sz="2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zh-TW" sz="2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rlInpTotAmt</a:t>
                      </a:r>
                      <a:r>
                        <a:rPr lang="en-US" altLang="zh-TW" sz="2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&gt;15000</a:t>
                      </a:r>
                    </a:p>
                    <a:p>
                      <a:r>
                        <a:rPr lang="en-US" altLang="zh-TW" sz="24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order by </a:t>
                      </a:r>
                      <a:r>
                        <a:rPr lang="en-US" altLang="zh-TW" sz="2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sum(</a:t>
                      </a:r>
                      <a:r>
                        <a:rPr lang="en-US" altLang="zh-TW" sz="2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rlInpTotAmt</a:t>
                      </a:r>
                      <a:r>
                        <a:rPr lang="en-US" altLang="zh-TW" sz="2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  <a:r>
                        <a:rPr lang="en-US" altLang="zh-TW" sz="2400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desc</a:t>
                      </a:r>
                      <a:endParaRPr lang="zh-TW" altLang="en-US" sz="2400" kern="1200" dirty="0" smtClean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總金額</a:t>
                      </a:r>
                      <a:r>
                        <a:rPr lang="en-US" altLang="zh-TW" dirty="0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&gt;15000</a:t>
                      </a:r>
                      <a:r>
                        <a:rPr lang="zh-TW" altLang="en-US" dirty="0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元才需要列出來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46596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24793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01827" y="29184"/>
            <a:ext cx="11640064" cy="749030"/>
          </a:xfrm>
          <a:ln>
            <a:solidFill>
              <a:schemeClr val="accent1"/>
            </a:solidFill>
          </a:ln>
        </p:spPr>
        <p:txBody>
          <a:bodyPr>
            <a:normAutofit/>
          </a:bodyPr>
          <a:lstStyle/>
          <a:p>
            <a:pPr algn="ctr"/>
            <a:r>
              <a:rPr lang="en-US" altLang="zh-TW" dirty="0"/>
              <a:t>5</a:t>
            </a:r>
            <a:r>
              <a:rPr lang="en-US" altLang="zh-TW" dirty="0" smtClean="0"/>
              <a:t>. </a:t>
            </a:r>
            <a:r>
              <a:rPr lang="en-US" altLang="zh-TW" dirty="0" smtClean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update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1544728"/>
              </p:ext>
            </p:extLst>
          </p:nvPr>
        </p:nvGraphicFramePr>
        <p:xfrm>
          <a:off x="201827" y="787940"/>
          <a:ext cx="11640064" cy="6070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3339">
                  <a:extLst>
                    <a:ext uri="{9D8B030D-6E8A-4147-A177-3AD203B41FA5}">
                      <a16:colId xmlns:a16="http://schemas.microsoft.com/office/drawing/2014/main" val="1226025319"/>
                    </a:ext>
                  </a:extLst>
                </a:gridCol>
                <a:gridCol w="6507969">
                  <a:extLst>
                    <a:ext uri="{9D8B030D-6E8A-4147-A177-3AD203B41FA5}">
                      <a16:colId xmlns:a16="http://schemas.microsoft.com/office/drawing/2014/main" val="3443298574"/>
                    </a:ext>
                  </a:extLst>
                </a:gridCol>
                <a:gridCol w="4608756">
                  <a:extLst>
                    <a:ext uri="{9D8B030D-6E8A-4147-A177-3AD203B41FA5}">
                      <a16:colId xmlns:a16="http://schemas.microsoft.com/office/drawing/2014/main" val="3732606518"/>
                    </a:ext>
                  </a:extLst>
                </a:gridCol>
              </a:tblGrid>
              <a:tr h="378067"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更正</a:t>
                      </a: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(</a:t>
                      </a: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修改</a:t>
                      </a: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): </a:t>
                      </a: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某一欄位的值，</a:t>
                      </a:r>
                      <a:r>
                        <a:rPr lang="zh-TW" altLang="en-US" baseline="0" dirty="0" smtClean="0">
                          <a:solidFill>
                            <a:schemeClr val="bg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切記</a:t>
                      </a:r>
                      <a:r>
                        <a:rPr lang="en-US" altLang="zh-TW" baseline="0" dirty="0" smtClean="0">
                          <a:solidFill>
                            <a:schemeClr val="bg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</a:t>
                      </a:r>
                      <a:r>
                        <a:rPr lang="zh-TW" altLang="en-US" baseline="0" dirty="0" smtClean="0">
                          <a:solidFill>
                            <a:schemeClr val="bg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要有</a:t>
                      </a:r>
                      <a:r>
                        <a:rPr lang="en-US" altLang="zh-TW" baseline="0" dirty="0" smtClean="0">
                          <a:solidFill>
                            <a:schemeClr val="bg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where</a:t>
                      </a:r>
                      <a:r>
                        <a:rPr lang="zh-TW" altLang="en-US" baseline="0" dirty="0" smtClean="0">
                          <a:solidFill>
                            <a:schemeClr val="bg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條件</a:t>
                      </a:r>
                      <a:endParaRPr lang="zh-TW" altLang="en-US" dirty="0" smtClean="0">
                        <a:solidFill>
                          <a:schemeClr val="bg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188803"/>
                  </a:ext>
                </a:extLst>
              </a:tr>
              <a:tr h="395441"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序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SQL Statement</a:t>
                      </a: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73917"/>
                  </a:ext>
                </a:extLst>
              </a:tr>
              <a:tr h="1267577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 </a:t>
                      </a:r>
                      <a:r>
                        <a:rPr lang="zh-TW" altLang="en-US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表格名稱 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SET </a:t>
                      </a:r>
                      <a:r>
                        <a:rPr lang="zh-TW" altLang="en-US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欄位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 = </a:t>
                      </a:r>
                      <a:r>
                        <a:rPr lang="zh-TW" altLang="en-US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新值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 </a:t>
                      </a:r>
                      <a:r>
                        <a:rPr lang="zh-TW" altLang="en-US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欄位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 = </a:t>
                      </a:r>
                      <a:r>
                        <a:rPr lang="zh-TW" altLang="en-US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新值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 ... WHERE </a:t>
                      </a:r>
                      <a:r>
                        <a:rPr lang="zh-TW" altLang="en-US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條件</a:t>
                      </a:r>
                      <a:endParaRPr lang="en-US" altLang="zh-TW" sz="1800" b="0" u="none" strike="noStrike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 Products SET </a:t>
                      </a:r>
                      <a:r>
                        <a:rPr lang="en-US" altLang="zh-TW" sz="1800" b="0" u="none" strike="noStrike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ProductName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TW" sz="1800" b="0" u="none" strike="noStrike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'</a:t>
                      </a:r>
                      <a:r>
                        <a:rPr lang="zh-TW" altLang="en-US" sz="1800" b="0" u="none" strike="noStrike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新產品名稱</a:t>
                      </a:r>
                      <a:r>
                        <a:rPr lang="en-US" altLang="zh-TW" sz="1800" b="0" u="none" strike="noStrike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Price = 100 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WHERE </a:t>
                      </a:r>
                      <a:r>
                        <a:rPr lang="en-US" altLang="zh-TW" sz="1800" b="0" u="none" strike="noStrike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ProductID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'A001'</a:t>
                      </a:r>
                      <a:endParaRPr lang="zh-TW" altLang="en-US" sz="1800" kern="1200" dirty="0" smtClean="0">
                        <a:solidFill>
                          <a:schemeClr val="dk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 smtClean="0"/>
                        <a:t>UPDATE </a:t>
                      </a:r>
                      <a:r>
                        <a:rPr lang="zh-TW" altLang="en-US" dirty="0" smtClean="0">
                          <a:solidFill>
                            <a:srgbClr val="FF0000"/>
                          </a:solidFill>
                        </a:rPr>
                        <a:t>語法 </a:t>
                      </a:r>
                      <a:r>
                        <a:rPr lang="en-US" altLang="zh-TW" dirty="0" smtClean="0">
                          <a:solidFill>
                            <a:srgbClr val="FF0000"/>
                          </a:solidFill>
                        </a:rPr>
                        <a:t>(syntax)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dirty="0" smtClean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注意</a:t>
                      </a:r>
                      <a:r>
                        <a:rPr lang="en-US" altLang="zh-TW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</a:t>
                      </a:r>
                      <a:r>
                        <a:rPr lang="zh-TW" altLang="en-US" dirty="0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字串必須用單引號括起來</a:t>
                      </a:r>
                      <a:endParaRPr lang="zh-TW" altLang="en-US" dirty="0" smtClean="0">
                        <a:solidFill>
                          <a:srgbClr val="0000FF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4659603"/>
                  </a:ext>
                </a:extLst>
              </a:tr>
              <a:tr h="206451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zh-TW" altLang="en-US" sz="1800" kern="1200" dirty="0" smtClean="0">
                        <a:solidFill>
                          <a:schemeClr val="dk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 smtClean="0">
                        <a:solidFill>
                          <a:srgbClr val="0000FF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4091178"/>
                  </a:ext>
                </a:extLst>
              </a:tr>
              <a:tr h="156009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update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TW" sz="1800" kern="1200" dirty="0" err="1" smtClean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InputHeadTbl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set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rlInpTotAmt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=1000   where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='1110309185401' and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chFactNo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='F01'</a:t>
                      </a:r>
                    </a:p>
                    <a:p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  <a:endParaRPr lang="zh-TW" altLang="en-US" sz="1800" kern="120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select * from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InputHeadTbl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where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='1110309185401' and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chFactNo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='F01'</a:t>
                      </a: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建議先使用 </a:t>
                      </a: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select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加上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where,</a:t>
                      </a: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確實看到確實要改的那一筆資料</a:t>
                      </a:r>
                      <a:endParaRPr lang="en-US" altLang="zh-TW" baseline="0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--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之後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,</a:t>
                      </a: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再改成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update</a:t>
                      </a: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的指令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/>
                      </a:r>
                      <a:b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</a:br>
                      <a:r>
                        <a:rPr lang="zh-TW" altLang="en-US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切記</a:t>
                      </a:r>
                      <a:r>
                        <a:rPr lang="en-US" altLang="zh-TW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</a:t>
                      </a:r>
                      <a:r>
                        <a:rPr lang="zh-TW" altLang="en-US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要有</a:t>
                      </a:r>
                      <a:r>
                        <a:rPr lang="en-US" altLang="zh-TW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where</a:t>
                      </a:r>
                      <a:r>
                        <a:rPr lang="zh-TW" altLang="en-US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條件</a:t>
                      </a:r>
                      <a:endParaRPr lang="zh-TW" altLang="en-US" dirty="0" smtClean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3322145"/>
                  </a:ext>
                </a:extLst>
              </a:tr>
              <a:tr h="206673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1752527"/>
                  </a:ext>
                </a:extLst>
              </a:tr>
              <a:tr h="1599923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</a:t>
                      </a:r>
                      <a:endParaRPr lang="zh-TW" altLang="en-US" dirty="0" smtClean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update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TW" sz="1800" kern="1200" dirty="0" err="1" smtClean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InputDetailTbl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set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rlInpQty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=1,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rlInpAmt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=1000   where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='1100419145530' and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chFactNo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='F01'</a:t>
                      </a:r>
                    </a:p>
                    <a:p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  <a:endParaRPr lang="zh-TW" altLang="en-US" sz="1800" kern="120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select * from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InputDetailTbl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where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='1100419145530' and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chFactNo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='F01' and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chProdNo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='P01'</a:t>
                      </a: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Detail</a:t>
                      </a:r>
                      <a:endParaRPr lang="en-US" altLang="zh-TW" dirty="0" smtClean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28185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71204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01827" y="0"/>
            <a:ext cx="11640064" cy="749030"/>
          </a:xfrm>
          <a:ln>
            <a:solidFill>
              <a:schemeClr val="accent1"/>
            </a:solidFill>
          </a:ln>
        </p:spPr>
        <p:txBody>
          <a:bodyPr>
            <a:normAutofit/>
          </a:bodyPr>
          <a:lstStyle/>
          <a:p>
            <a:pPr algn="ctr"/>
            <a:r>
              <a:rPr lang="en-US" altLang="zh-TW" dirty="0" smtClean="0"/>
              <a:t>6. </a:t>
            </a:r>
            <a:r>
              <a:rPr lang="en-US" altLang="zh-TW" dirty="0" smtClean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delete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497841"/>
              </p:ext>
            </p:extLst>
          </p:nvPr>
        </p:nvGraphicFramePr>
        <p:xfrm>
          <a:off x="201827" y="770566"/>
          <a:ext cx="11640064" cy="62646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3339">
                  <a:extLst>
                    <a:ext uri="{9D8B030D-6E8A-4147-A177-3AD203B41FA5}">
                      <a16:colId xmlns:a16="http://schemas.microsoft.com/office/drawing/2014/main" val="1226025319"/>
                    </a:ext>
                  </a:extLst>
                </a:gridCol>
                <a:gridCol w="6507969">
                  <a:extLst>
                    <a:ext uri="{9D8B030D-6E8A-4147-A177-3AD203B41FA5}">
                      <a16:colId xmlns:a16="http://schemas.microsoft.com/office/drawing/2014/main" val="3443298574"/>
                    </a:ext>
                  </a:extLst>
                </a:gridCol>
                <a:gridCol w="4608756">
                  <a:extLst>
                    <a:ext uri="{9D8B030D-6E8A-4147-A177-3AD203B41FA5}">
                      <a16:colId xmlns:a16="http://schemas.microsoft.com/office/drawing/2014/main" val="3732606518"/>
                    </a:ext>
                  </a:extLst>
                </a:gridCol>
              </a:tblGrid>
              <a:tr h="395441"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刪除某一列的資料，</a:t>
                      </a:r>
                      <a:r>
                        <a:rPr lang="zh-TW" altLang="en-US" baseline="0" dirty="0" smtClean="0">
                          <a:solidFill>
                            <a:schemeClr val="bg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切記</a:t>
                      </a:r>
                      <a:r>
                        <a:rPr lang="en-US" altLang="zh-TW" baseline="0" dirty="0" smtClean="0">
                          <a:solidFill>
                            <a:schemeClr val="bg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</a:t>
                      </a:r>
                      <a:r>
                        <a:rPr lang="zh-TW" altLang="en-US" baseline="0" dirty="0" smtClean="0">
                          <a:solidFill>
                            <a:schemeClr val="bg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要有</a:t>
                      </a:r>
                      <a:r>
                        <a:rPr lang="en-US" altLang="zh-TW" baseline="0" dirty="0" smtClean="0">
                          <a:solidFill>
                            <a:schemeClr val="bg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where</a:t>
                      </a:r>
                      <a:r>
                        <a:rPr lang="zh-TW" altLang="en-US" baseline="0" dirty="0" smtClean="0">
                          <a:solidFill>
                            <a:schemeClr val="bg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條件</a:t>
                      </a:r>
                      <a:endParaRPr lang="zh-TW" altLang="en-US" dirty="0" smtClean="0">
                        <a:solidFill>
                          <a:schemeClr val="bg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188803"/>
                  </a:ext>
                </a:extLst>
              </a:tr>
              <a:tr h="395441"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序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SQL Statement</a:t>
                      </a: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73917"/>
                  </a:ext>
                </a:extLst>
              </a:tr>
              <a:tr h="1267577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 smtClean="0"/>
                        <a:t>DELETE </a:t>
                      </a:r>
                      <a:r>
                        <a:rPr lang="en-US" altLang="zh-TW" dirty="0" smtClean="0">
                          <a:solidFill>
                            <a:srgbClr val="0000FF"/>
                          </a:solidFill>
                        </a:rPr>
                        <a:t>FROM</a:t>
                      </a:r>
                      <a:r>
                        <a:rPr lang="en-US" altLang="zh-TW" dirty="0" smtClean="0"/>
                        <a:t> </a:t>
                      </a:r>
                      <a:r>
                        <a:rPr lang="en-US" altLang="zh-TW" dirty="0" err="1" smtClean="0"/>
                        <a:t>table_name</a:t>
                      </a:r>
                      <a:r>
                        <a:rPr lang="en-US" altLang="zh-TW" dirty="0" smtClean="0"/>
                        <a:t> WHERE condition</a:t>
                      </a:r>
                      <a:endParaRPr lang="zh-TW" altLang="en-US" sz="1800" kern="1200" dirty="0" smtClean="0">
                        <a:solidFill>
                          <a:schemeClr val="dk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 smtClean="0"/>
                        <a:t>Delete  </a:t>
                      </a:r>
                      <a:r>
                        <a:rPr lang="zh-TW" altLang="en-US" dirty="0" smtClean="0">
                          <a:solidFill>
                            <a:srgbClr val="FF0000"/>
                          </a:solidFill>
                        </a:rPr>
                        <a:t>語法 </a:t>
                      </a:r>
                      <a:r>
                        <a:rPr lang="en-US" altLang="zh-TW" dirty="0" smtClean="0">
                          <a:solidFill>
                            <a:srgbClr val="FF0000"/>
                          </a:solidFill>
                        </a:rPr>
                        <a:t>(syntax)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dirty="0" smtClean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注意</a:t>
                      </a:r>
                      <a:r>
                        <a:rPr lang="en-US" altLang="zh-TW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</a:t>
                      </a:r>
                      <a:r>
                        <a:rPr lang="en-US" altLang="zh-TW" dirty="0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From </a:t>
                      </a:r>
                      <a:r>
                        <a:rPr lang="zh-TW" altLang="en-US" dirty="0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非必要</a:t>
                      </a:r>
                      <a:endParaRPr lang="zh-TW" altLang="en-US" dirty="0" smtClean="0">
                        <a:solidFill>
                          <a:srgbClr val="0000FF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4659603"/>
                  </a:ext>
                </a:extLst>
              </a:tr>
              <a:tr h="206451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zh-TW" altLang="en-US" sz="1800" kern="1200" dirty="0" smtClean="0">
                        <a:solidFill>
                          <a:schemeClr val="dk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 smtClean="0">
                        <a:solidFill>
                          <a:srgbClr val="0000FF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4091178"/>
                  </a:ext>
                </a:extLst>
              </a:tr>
              <a:tr h="156009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select * from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InputHeadTbl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where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='1100421091023' and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chFactNo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='F01'</a:t>
                      </a:r>
                    </a:p>
                    <a:p>
                      <a:endParaRPr lang="zh-TW" altLang="en-US" sz="1800" kern="120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zh-TW" altLang="en-US" sz="1800" kern="120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zh-TW" sz="18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delete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InputHeadTbl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where </a:t>
                      </a:r>
                      <a:r>
                        <a:rPr lang="en-US" altLang="zh-TW" sz="1800" kern="1200" dirty="0" err="1" smtClean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 smtClean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='1100421091023' and </a:t>
                      </a:r>
                      <a:r>
                        <a:rPr lang="en-US" altLang="zh-TW" sz="1800" kern="1200" dirty="0" err="1" smtClean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chFactNo</a:t>
                      </a:r>
                      <a:r>
                        <a:rPr lang="en-US" altLang="zh-TW" sz="1800" kern="1200" dirty="0" smtClean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='F01'</a:t>
                      </a:r>
                      <a:endParaRPr lang="zh-TW" altLang="en-US" dirty="0" smtClean="0">
                        <a:solidFill>
                          <a:srgbClr val="0000FF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建議先使用 </a:t>
                      </a: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select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加上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where,</a:t>
                      </a: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確實看到確實要改的</a:t>
                      </a:r>
                      <a:r>
                        <a:rPr lang="zh-TW" altLang="en-US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那一筆</a:t>
                      </a: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資料</a:t>
                      </a:r>
                      <a:endParaRPr lang="en-US" altLang="zh-TW" baseline="0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--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之後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,</a:t>
                      </a: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再改成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delete</a:t>
                      </a:r>
                      <a:r>
                        <a:rPr lang="zh-TW" altLang="en-US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的指令</a:t>
                      </a:r>
                      <a: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/>
                      </a:r>
                      <a:br>
                        <a:rPr lang="en-US" altLang="zh-TW" baseline="0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</a:br>
                      <a:r>
                        <a:rPr lang="zh-TW" altLang="en-US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切記</a:t>
                      </a:r>
                      <a:r>
                        <a:rPr lang="en-US" altLang="zh-TW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</a:t>
                      </a:r>
                      <a:r>
                        <a:rPr lang="zh-TW" altLang="en-US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要有</a:t>
                      </a:r>
                      <a:r>
                        <a:rPr lang="en-US" altLang="zh-TW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where</a:t>
                      </a:r>
                      <a:r>
                        <a:rPr lang="zh-TW" altLang="en-US" baseline="0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條件</a:t>
                      </a:r>
                      <a:endParaRPr lang="zh-TW" altLang="en-US" dirty="0" smtClean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3322145"/>
                  </a:ext>
                </a:extLst>
              </a:tr>
              <a:tr h="206673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1752527"/>
                  </a:ext>
                </a:extLst>
              </a:tr>
              <a:tr h="1599923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</a:t>
                      </a:r>
                      <a:endParaRPr lang="zh-TW" altLang="en-US" dirty="0" smtClean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select * from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InputDetailTbl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where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='1100419145530' and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chFactNo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='F01' and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chProdNo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='P01'</a:t>
                      </a:r>
                    </a:p>
                    <a:p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  <a:endParaRPr lang="zh-TW" altLang="en-US" sz="1800" kern="120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zh-TW" sz="1800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delete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TW" sz="18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InputDetailTbl</a:t>
                      </a:r>
                      <a:r>
                        <a:rPr lang="en-US" altLang="zh-TW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where </a:t>
                      </a:r>
                      <a:r>
                        <a:rPr lang="en-US" altLang="zh-TW" sz="1800" kern="1200" dirty="0" err="1" smtClean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chInpDateTime</a:t>
                      </a:r>
                      <a:r>
                        <a:rPr lang="en-US" altLang="zh-TW" sz="1800" kern="1200" dirty="0" smtClean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='1100419145530' and </a:t>
                      </a:r>
                      <a:r>
                        <a:rPr lang="en-US" altLang="zh-TW" sz="1800" kern="1200" dirty="0" err="1" smtClean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chFactNo</a:t>
                      </a:r>
                      <a:r>
                        <a:rPr lang="en-US" altLang="zh-TW" sz="1800" kern="1200" dirty="0" smtClean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='F01' and </a:t>
                      </a:r>
                      <a:r>
                        <a:rPr lang="en-US" altLang="zh-TW" sz="1800" kern="1200" dirty="0" err="1" smtClean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chProdNo</a:t>
                      </a:r>
                      <a:r>
                        <a:rPr lang="en-US" altLang="zh-TW" sz="1800" kern="1200" dirty="0" smtClean="0">
                          <a:solidFill>
                            <a:srgbClr val="0000FF"/>
                          </a:solidFill>
                          <a:latin typeface="+mn-lt"/>
                          <a:ea typeface="+mn-ea"/>
                          <a:cs typeface="+mn-cs"/>
                        </a:rPr>
                        <a:t>='P01'</a:t>
                      </a:r>
                      <a:endParaRPr lang="zh-TW" altLang="en-US" dirty="0" smtClean="0">
                        <a:solidFill>
                          <a:srgbClr val="0000FF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Detail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dirty="0" smtClean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dirty="0" smtClean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dirty="0" smtClean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注意</a:t>
                      </a:r>
                      <a:r>
                        <a:rPr lang="en-US" altLang="zh-TW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</a:t>
                      </a:r>
                      <a:r>
                        <a:rPr lang="en-US" altLang="zh-TW" baseline="0" dirty="0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Where </a:t>
                      </a:r>
                      <a:r>
                        <a:rPr lang="zh-TW" altLang="en-US" baseline="0" dirty="0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後面的條件</a:t>
                      </a:r>
                      <a:r>
                        <a:rPr lang="en-US" altLang="zh-TW" baseline="0" dirty="0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,</a:t>
                      </a:r>
                      <a:r>
                        <a:rPr lang="zh-TW" altLang="en-US" baseline="0" dirty="0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是</a:t>
                      </a:r>
                      <a:r>
                        <a:rPr lang="en-US" altLang="zh-TW" baseline="0" dirty="0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PK ?</a:t>
                      </a:r>
                      <a:endParaRPr lang="zh-TW" altLang="en-US" dirty="0" smtClean="0">
                        <a:solidFill>
                          <a:srgbClr val="0000FF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dirty="0" smtClean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28185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1129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64059" y="369651"/>
            <a:ext cx="10515600" cy="749030"/>
          </a:xfrm>
          <a:ln>
            <a:solidFill>
              <a:schemeClr val="accent1"/>
            </a:solidFill>
          </a:ln>
        </p:spPr>
        <p:txBody>
          <a:bodyPr>
            <a:normAutofit/>
          </a:bodyPr>
          <a:lstStyle/>
          <a:p>
            <a:pPr algn="ctr"/>
            <a:r>
              <a:rPr lang="en-US" altLang="zh-TW" dirty="0" smtClean="0"/>
              <a:t>7. </a:t>
            </a:r>
            <a:r>
              <a:rPr lang="en-US" altLang="zh-TW" dirty="0" smtClean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insert-I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4508027"/>
              </p:ext>
            </p:extLst>
          </p:nvPr>
        </p:nvGraphicFramePr>
        <p:xfrm>
          <a:off x="201827" y="1675238"/>
          <a:ext cx="11640064" cy="3984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3339">
                  <a:extLst>
                    <a:ext uri="{9D8B030D-6E8A-4147-A177-3AD203B41FA5}">
                      <a16:colId xmlns:a16="http://schemas.microsoft.com/office/drawing/2014/main" val="1226025319"/>
                    </a:ext>
                  </a:extLst>
                </a:gridCol>
                <a:gridCol w="6507969">
                  <a:extLst>
                    <a:ext uri="{9D8B030D-6E8A-4147-A177-3AD203B41FA5}">
                      <a16:colId xmlns:a16="http://schemas.microsoft.com/office/drawing/2014/main" val="3443298574"/>
                    </a:ext>
                  </a:extLst>
                </a:gridCol>
                <a:gridCol w="4608756">
                  <a:extLst>
                    <a:ext uri="{9D8B030D-6E8A-4147-A177-3AD203B41FA5}">
                      <a16:colId xmlns:a16="http://schemas.microsoft.com/office/drawing/2014/main" val="3732606518"/>
                    </a:ext>
                  </a:extLst>
                </a:gridCol>
              </a:tblGrid>
              <a:tr h="395441"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在資料表中新增一筆資料</a:t>
                      </a: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188803"/>
                  </a:ext>
                </a:extLst>
              </a:tr>
              <a:tr h="395441"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序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SQL Statement</a:t>
                      </a: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73917"/>
                  </a:ext>
                </a:extLst>
              </a:tr>
              <a:tr h="1267577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INSERT INTO </a:t>
                      </a:r>
                      <a:r>
                        <a:rPr lang="zh-TW" altLang="en-US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資料表名稱 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zh-TW" altLang="en-US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欄位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 </a:t>
                      </a:r>
                      <a:r>
                        <a:rPr lang="zh-TW" altLang="en-US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欄位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 ...) VALUES (</a:t>
                      </a:r>
                      <a:r>
                        <a:rPr lang="zh-TW" altLang="en-US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值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 </a:t>
                      </a:r>
                      <a:r>
                        <a:rPr lang="zh-TW" altLang="en-US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值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2, ...)</a:t>
                      </a:r>
                    </a:p>
                    <a:p>
                      <a:endParaRPr lang="en-US" altLang="zh-TW" sz="1800" b="0" u="none" strike="noStrike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zh-TW" altLang="en-US" sz="1800" b="0" u="none" strike="noStrike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範例</a:t>
                      </a:r>
                      <a:r>
                        <a:rPr lang="en-US" altLang="zh-TW" sz="1800" b="0" u="none" strike="noStrike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</a:p>
                    <a:p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INSERT INTO students (name, age, grade) VALUES ('</a:t>
                      </a:r>
                      <a:r>
                        <a:rPr lang="zh-TW" altLang="en-US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小明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15, 'A')</a:t>
                      </a:r>
                      <a:endParaRPr lang="zh-TW" altLang="en-US" sz="1800" kern="1200" dirty="0" smtClean="0">
                        <a:solidFill>
                          <a:schemeClr val="dk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 smtClean="0"/>
                        <a:t>Insert</a:t>
                      </a:r>
                      <a:r>
                        <a:rPr lang="en-US" altLang="zh-TW" baseline="0" dirty="0" smtClean="0"/>
                        <a:t> </a:t>
                      </a:r>
                      <a:r>
                        <a:rPr lang="en-US" altLang="zh-TW" dirty="0" smtClean="0"/>
                        <a:t> </a:t>
                      </a:r>
                      <a:r>
                        <a:rPr lang="zh-TW" altLang="en-US" dirty="0" smtClean="0">
                          <a:solidFill>
                            <a:srgbClr val="FF0000"/>
                          </a:solidFill>
                        </a:rPr>
                        <a:t>語法 </a:t>
                      </a:r>
                      <a:r>
                        <a:rPr lang="en-US" altLang="zh-TW" dirty="0" smtClean="0">
                          <a:solidFill>
                            <a:srgbClr val="FF0000"/>
                          </a:solidFill>
                        </a:rPr>
                        <a:t>(syntax)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指定欄位名稱 </a:t>
                      </a:r>
                      <a:r>
                        <a:rPr lang="en-US" altLang="zh-TW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(</a:t>
                      </a:r>
                      <a:r>
                        <a:rPr lang="zh-TW" altLang="en-US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有可能沒列出所有欄位名稱</a:t>
                      </a:r>
                      <a:r>
                        <a:rPr lang="en-US" altLang="zh-TW" dirty="0" smtClean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)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dirty="0" smtClean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注意</a:t>
                      </a:r>
                      <a:r>
                        <a:rPr lang="en-US" altLang="zh-TW" dirty="0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</a:t>
                      </a:r>
                      <a:r>
                        <a:rPr lang="zh-TW" altLang="en-US" dirty="0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字串必須用單引號括起來</a:t>
                      </a:r>
                      <a:endParaRPr lang="zh-TW" altLang="en-US" dirty="0" smtClean="0">
                        <a:solidFill>
                          <a:srgbClr val="0000FF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4659603"/>
                  </a:ext>
                </a:extLst>
              </a:tr>
              <a:tr h="206451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zh-TW" altLang="en-US" sz="1800" kern="1200" dirty="0" smtClean="0">
                        <a:solidFill>
                          <a:schemeClr val="dk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 smtClean="0">
                        <a:solidFill>
                          <a:srgbClr val="0000FF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4091178"/>
                  </a:ext>
                </a:extLst>
              </a:tr>
              <a:tr h="156009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INSERT INTO </a:t>
                      </a:r>
                      <a:r>
                        <a:rPr lang="zh-TW" altLang="en-US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資料表名稱 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VALUES (</a:t>
                      </a:r>
                      <a:r>
                        <a:rPr lang="zh-TW" altLang="en-US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值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 </a:t>
                      </a:r>
                      <a:r>
                        <a:rPr lang="zh-TW" altLang="en-US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值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 </a:t>
                      </a:r>
                      <a:r>
                        <a:rPr lang="zh-TW" altLang="en-US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值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3, ...)</a:t>
                      </a:r>
                    </a:p>
                    <a:p>
                      <a:endParaRPr lang="en-US" altLang="zh-TW" sz="1800" b="0" u="none" strike="noStrike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US" altLang="zh-TW" sz="1800" kern="120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0" u="none" strike="noStrike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範例</a:t>
                      </a:r>
                      <a:r>
                        <a:rPr lang="en-US" altLang="zh-TW" sz="1800" b="0" u="none" strike="noStrike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</a:p>
                    <a:p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INSERT INTO students VALUES (1, '</a:t>
                      </a:r>
                      <a:r>
                        <a:rPr lang="zh-TW" altLang="en-US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小明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15, 'A')</a:t>
                      </a: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/>
                        <a:t>不指定欄位名稱</a:t>
                      </a:r>
                      <a:endParaRPr lang="en-US" altLang="zh-TW" dirty="0" smtClean="0"/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/>
                        <a:t>（需插入所有欄位）按</a:t>
                      </a:r>
                      <a:r>
                        <a:rPr lang="zh-TW" altLang="en-US" dirty="0" smtClean="0"/>
                        <a:t>欄位</a:t>
                      </a:r>
                      <a:r>
                        <a:rPr lang="zh-TW" altLang="en-US" dirty="0" smtClean="0"/>
                        <a:t>順序插入值</a:t>
                      </a: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33221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0119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64059" y="262647"/>
            <a:ext cx="10515600" cy="749030"/>
          </a:xfrm>
          <a:ln>
            <a:solidFill>
              <a:schemeClr val="accent1"/>
            </a:solidFill>
          </a:ln>
        </p:spPr>
        <p:txBody>
          <a:bodyPr>
            <a:normAutofit/>
          </a:bodyPr>
          <a:lstStyle/>
          <a:p>
            <a:pPr algn="ctr"/>
            <a:r>
              <a:rPr lang="en-US" altLang="zh-TW" dirty="0" smtClean="0"/>
              <a:t>7. </a:t>
            </a:r>
            <a:r>
              <a:rPr lang="en-US" altLang="zh-TW" dirty="0" smtClean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insert-II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1565775"/>
              </p:ext>
            </p:extLst>
          </p:nvPr>
        </p:nvGraphicFramePr>
        <p:xfrm>
          <a:off x="201827" y="1791971"/>
          <a:ext cx="11640064" cy="43570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3339">
                  <a:extLst>
                    <a:ext uri="{9D8B030D-6E8A-4147-A177-3AD203B41FA5}">
                      <a16:colId xmlns:a16="http://schemas.microsoft.com/office/drawing/2014/main" val="1226025319"/>
                    </a:ext>
                  </a:extLst>
                </a:gridCol>
                <a:gridCol w="5169796">
                  <a:extLst>
                    <a:ext uri="{9D8B030D-6E8A-4147-A177-3AD203B41FA5}">
                      <a16:colId xmlns:a16="http://schemas.microsoft.com/office/drawing/2014/main" val="3443298574"/>
                    </a:ext>
                  </a:extLst>
                </a:gridCol>
                <a:gridCol w="5946929">
                  <a:extLst>
                    <a:ext uri="{9D8B030D-6E8A-4147-A177-3AD203B41FA5}">
                      <a16:colId xmlns:a16="http://schemas.microsoft.com/office/drawing/2014/main" val="3732606518"/>
                    </a:ext>
                  </a:extLst>
                </a:gridCol>
              </a:tblGrid>
              <a:tr h="395441"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從資料表</a:t>
                      </a: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A</a:t>
                      </a: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中</a:t>
                      </a: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select</a:t>
                      </a: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出資料，再插入資料表</a:t>
                      </a: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</a:t>
                      </a: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188803"/>
                  </a:ext>
                </a:extLst>
              </a:tr>
              <a:tr h="395441"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序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SQL Statement</a:t>
                      </a: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73917"/>
                  </a:ext>
                </a:extLst>
              </a:tr>
              <a:tr h="1267577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/>
                        <a:t>從表格</a:t>
                      </a:r>
                      <a:r>
                        <a:rPr lang="en-US" altLang="zh-TW" dirty="0" smtClean="0"/>
                        <a:t>A</a:t>
                      </a:r>
                      <a:r>
                        <a:rPr lang="zh-TW" altLang="en-US" dirty="0" smtClean="0"/>
                        <a:t>中</a:t>
                      </a:r>
                      <a:r>
                        <a:rPr lang="en-US" altLang="zh-TW" dirty="0" smtClean="0"/>
                        <a:t>select</a:t>
                      </a:r>
                      <a:r>
                        <a:rPr lang="zh-TW" altLang="en-US" dirty="0" smtClean="0"/>
                        <a:t>出</a:t>
                      </a:r>
                      <a:r>
                        <a:rPr lang="zh-TW" altLang="en-US" dirty="0" smtClean="0"/>
                        <a:t>資料</a:t>
                      </a:r>
                      <a:r>
                        <a:rPr lang="en-US" altLang="zh-TW" dirty="0" smtClean="0"/>
                        <a:t>,</a:t>
                      </a:r>
                      <a:r>
                        <a:rPr lang="en-US" altLang="zh-TW" baseline="0" dirty="0" smtClean="0"/>
                        <a:t> </a:t>
                      </a:r>
                      <a:r>
                        <a:rPr lang="zh-TW" altLang="en-US" baseline="0" dirty="0" smtClean="0"/>
                        <a:t>再</a:t>
                      </a:r>
                      <a:r>
                        <a:rPr lang="zh-TW" altLang="en-US" dirty="0" smtClean="0"/>
                        <a:t>插入另一</a:t>
                      </a:r>
                      <a:r>
                        <a:rPr lang="zh-TW" altLang="en-US" dirty="0" smtClean="0"/>
                        <a:t>表格</a:t>
                      </a:r>
                      <a:r>
                        <a:rPr lang="en-US" altLang="zh-TW" dirty="0" smtClean="0"/>
                        <a:t>B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800" b="0" u="none" strike="noStrike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zh-TW" altLang="en-US" sz="1800" b="0" u="none" strike="noStrike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範例</a:t>
                      </a:r>
                      <a:r>
                        <a:rPr lang="en-US" altLang="zh-TW" sz="1800" b="0" u="none" strike="noStrike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</a:p>
                    <a:p>
                      <a:r>
                        <a:rPr lang="en-US" altLang="zh-TW" sz="1800" b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INSERT INTO </a:t>
                      </a:r>
                      <a:r>
                        <a:rPr lang="en-US" altLang="zh-TW" sz="1800" b="0" u="none" strike="noStrike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B_Tbl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TW" sz="1800" b="0" u="none" strike="noStrike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name, age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</a:p>
                    <a:p>
                      <a:r>
                        <a:rPr lang="en-US" altLang="zh-TW" sz="1800" b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SELECT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TW" sz="1800" b="0" u="none" strike="noStrike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name, age 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FROM </a:t>
                      </a:r>
                      <a:r>
                        <a:rPr lang="en-US" altLang="zh-TW" sz="1800" b="0" u="none" strike="noStrike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A_Tbl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WHERE grade = 'A'</a:t>
                      </a:r>
                      <a:endParaRPr lang="zh-TW" altLang="en-US" sz="1800" kern="1200" dirty="0" smtClean="0">
                        <a:solidFill>
                          <a:schemeClr val="dk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dirty="0" smtClean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注意</a:t>
                      </a:r>
                      <a:r>
                        <a:rPr lang="en-US" altLang="zh-TW" dirty="0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: </a:t>
                      </a:r>
                      <a:r>
                        <a:rPr lang="en-US" altLang="zh-TW" dirty="0" err="1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B_Tbl</a:t>
                      </a:r>
                      <a:r>
                        <a:rPr lang="zh-TW" altLang="en-US" dirty="0" smtClean="0">
                          <a:solidFill>
                            <a:srgbClr val="0000FF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結構本來就已經存在</a:t>
                      </a:r>
                      <a:endParaRPr lang="zh-TW" altLang="en-US" dirty="0" smtClean="0">
                        <a:solidFill>
                          <a:srgbClr val="0000FF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4659603"/>
                  </a:ext>
                </a:extLst>
              </a:tr>
              <a:tr h="206451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zh-TW" altLang="en-US" sz="1800" kern="1200" dirty="0" smtClean="0">
                        <a:solidFill>
                          <a:schemeClr val="dk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dirty="0" smtClean="0">
                        <a:solidFill>
                          <a:srgbClr val="0000FF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4091178"/>
                  </a:ext>
                </a:extLst>
              </a:tr>
              <a:tr h="156009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b="0" u="none" strike="noStrike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SELECT * </a:t>
                      </a:r>
                    </a:p>
                    <a:p>
                      <a:r>
                        <a:rPr lang="en-US" altLang="zh-TW" sz="1800" b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INTO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zh-TW" sz="1800" b="0" u="none" strike="noStrike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TW" altLang="en-US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新資料表 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  <a:p>
                      <a:r>
                        <a:rPr lang="en-US" altLang="zh-TW" sz="1800" b="0" u="none" strike="noStrike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FROM </a:t>
                      </a:r>
                      <a:r>
                        <a:rPr lang="zh-TW" altLang="en-US" sz="1800" b="0" u="none" strike="noStrike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舊資料表 </a:t>
                      </a:r>
                      <a:r>
                        <a:rPr lang="en-US" altLang="zh-TW" sz="1800" b="0" u="none" strike="noStrike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</a:t>
                      </a:r>
                    </a:p>
                    <a:p>
                      <a:r>
                        <a:rPr lang="en-US" altLang="zh-TW" sz="1800" b="0" u="none" strike="noStrike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WHERE </a:t>
                      </a:r>
                      <a:r>
                        <a:rPr lang="zh-TW" altLang="en-US" sz="1800" b="0" u="none" strike="noStrike" kern="1200" dirty="0" smtClean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條件</a:t>
                      </a:r>
                      <a:endParaRPr lang="en-US" altLang="zh-TW" sz="1800" b="0" u="none" strike="noStrike" kern="1200" dirty="0" smtClean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US" altLang="zh-TW" sz="1800" kern="120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lang="zh-TW" altLang="en-US" sz="1800" b="1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功能</a:t>
                      </a:r>
                      <a:r>
                        <a:rPr lang="zh-TW" altLang="en-US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：從舊資料表 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(A) </a:t>
                      </a:r>
                      <a:r>
                        <a:rPr lang="zh-TW" altLang="en-US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中篩選符合 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WHERE</a:t>
                      </a:r>
                      <a:r>
                        <a:rPr lang="zh-TW" altLang="en-US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條件的資料，並將結果匯入一個自動建立的新資料表 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(B)</a:t>
                      </a:r>
                      <a:r>
                        <a:rPr lang="zh-TW" altLang="en-US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。</a:t>
                      </a:r>
                      <a:endParaRPr lang="en-US" altLang="zh-TW" sz="1800" b="0" u="none" strike="noStrike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</a:t>
                      </a:r>
                      <a:r>
                        <a:rPr lang="zh-TW" altLang="en-US" sz="1800" b="1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新資料表 </a:t>
                      </a:r>
                      <a:r>
                        <a:rPr lang="en-US" altLang="zh-TW" sz="1800" b="1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  <a:r>
                        <a:rPr lang="zh-TW" altLang="en-US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：</a:t>
                      </a:r>
                      <a:r>
                        <a:rPr lang="en-US" altLang="zh-TW" sz="1800" b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INTO</a:t>
                      </a:r>
                      <a:r>
                        <a:rPr lang="zh-TW" altLang="en-US" sz="1800" b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會自動定義新資料表的結構</a:t>
                      </a:r>
                      <a:r>
                        <a:rPr lang="zh-TW" altLang="en-US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，結構與 </a:t>
                      </a:r>
                      <a:r>
                        <a:rPr lang="en-US" altLang="zh-TW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SELECT</a:t>
                      </a:r>
                      <a:r>
                        <a:rPr lang="zh-TW" altLang="en-US" sz="1800" b="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出來的資料欄位相同。</a:t>
                      </a:r>
                      <a:endParaRPr lang="en-US" altLang="zh-TW" sz="1800" b="0" u="none" strike="noStrike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 </a:t>
                      </a:r>
                      <a:r>
                        <a:rPr lang="zh-TW" altLang="en-US" sz="1800" b="1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注意</a:t>
                      </a:r>
                      <a:r>
                        <a:rPr lang="zh-TW" altLang="en-US" dirty="0" smtClean="0"/>
                        <a:t>：</a:t>
                      </a:r>
                      <a:r>
                        <a:rPr lang="zh-TW" altLang="en-US" dirty="0" smtClean="0">
                          <a:solidFill>
                            <a:srgbClr val="FF0000"/>
                          </a:solidFill>
                        </a:rPr>
                        <a:t>新資料表 </a:t>
                      </a:r>
                      <a:r>
                        <a:rPr lang="en-US" altLang="zh-TW" dirty="0" smtClean="0">
                          <a:solidFill>
                            <a:srgbClr val="FF0000"/>
                          </a:solidFill>
                        </a:rPr>
                        <a:t>B </a:t>
                      </a:r>
                      <a:r>
                        <a:rPr lang="zh-TW" altLang="en-US" dirty="0" smtClean="0">
                          <a:solidFill>
                            <a:srgbClr val="FF0000"/>
                          </a:solidFill>
                        </a:rPr>
                        <a:t>不能在執行此語法前已經存在</a:t>
                      </a:r>
                      <a:r>
                        <a:rPr lang="zh-TW" altLang="en-US" dirty="0" smtClean="0"/>
                        <a:t>，否則會報錯</a:t>
                      </a:r>
                      <a:endParaRPr lang="zh-TW" altLang="en-US" dirty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33221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8957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07524" y="1987336"/>
            <a:ext cx="9144000" cy="2395194"/>
          </a:xfrm>
          <a:ln>
            <a:solidFill>
              <a:schemeClr val="accent1"/>
            </a:solidFill>
          </a:ln>
        </p:spPr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二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增加使用變數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/>
            </a:r>
            <a:b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副標題 2"/>
          <p:cNvSpPr>
            <a:spLocks noGrp="1"/>
          </p:cNvSpPr>
          <p:nvPr>
            <p:ph type="subTitle" idx="1"/>
          </p:nvPr>
        </p:nvSpPr>
        <p:spPr>
          <a:xfrm>
            <a:off x="1507524" y="4779085"/>
            <a:ext cx="9144000" cy="1655762"/>
          </a:xfrm>
          <a:ln>
            <a:solidFill>
              <a:schemeClr val="accent1"/>
            </a:solidFill>
          </a:ln>
        </p:spPr>
        <p:txBody>
          <a:bodyPr>
            <a:normAutofit/>
          </a:bodyPr>
          <a:lstStyle/>
          <a:p>
            <a:endParaRPr lang="en-US" altLang="zh-TW" dirty="0" smtClean="0"/>
          </a:p>
          <a:p>
            <a:r>
              <a:rPr lang="zh-TW" altLang="en-US" sz="40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儲存今天日期</a:t>
            </a:r>
            <a:endParaRPr lang="en-US" altLang="zh-TW" sz="4000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352942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75358" y="160844"/>
            <a:ext cx="9516897" cy="782739"/>
          </a:xfrm>
          <a:ln>
            <a:solidFill>
              <a:srgbClr val="000000"/>
            </a:solidFill>
          </a:ln>
        </p:spPr>
        <p:txBody>
          <a:bodyPr>
            <a:normAutofit fontScale="90000"/>
          </a:bodyPr>
          <a:lstStyle/>
          <a:p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使用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取得今天的日期 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格式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YYYMMDD)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5"/>
          <p:cNvSpPr>
            <a:spLocks noChangeArrowheads="1"/>
          </p:cNvSpPr>
          <p:nvPr/>
        </p:nvSpPr>
        <p:spPr bwMode="auto">
          <a:xfrm>
            <a:off x="1475359" y="1095209"/>
            <a:ext cx="9516896" cy="5636332"/>
          </a:xfrm>
          <a:prstGeom prst="rect">
            <a:avLst/>
          </a:prstGeom>
          <a:solidFill>
            <a:srgbClr val="BBE0E3"/>
          </a:solidFill>
          <a:ln w="9525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declare @YYY  char(3) --</a:t>
            </a:r>
            <a:r>
              <a: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今天的民國年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declare @MM  char(2) --</a:t>
            </a:r>
            <a:r>
              <a: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今天的月份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declare @DD  char(2) --</a:t>
            </a:r>
            <a:r>
              <a: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今天的日期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declare @YYYMMDD char(7)--</a:t>
            </a:r>
            <a:r>
              <a: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今天的年月日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800" b="0" i="0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800" kern="0" dirty="0" smtClean="0">
                <a:solidFill>
                  <a:srgbClr val="000000"/>
                </a:solidFill>
              </a:rPr>
              <a:t>--</a:t>
            </a:r>
            <a:r>
              <a:rPr lang="zh-TW" altLang="en-US" sz="1800" kern="0" dirty="0" smtClean="0">
                <a:solidFill>
                  <a:srgbClr val="000000"/>
                </a:solidFill>
              </a:rPr>
              <a:t>年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@YYY=convert(char(3),year(</a:t>
            </a:r>
            <a:r>
              <a:rPr kumimoji="0" lang="en-US" altLang="zh-TW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getdate</a:t>
            </a: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())-1911)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800" b="0" i="0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--</a:t>
            </a:r>
            <a:r>
              <a: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月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@MM= replicate('0',2-len(</a:t>
            </a:r>
            <a:r>
              <a:rPr kumimoji="0" lang="en-US" altLang="zh-TW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rtrim</a:t>
            </a: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(convert(char(2),month(</a:t>
            </a:r>
            <a:r>
              <a:rPr kumimoji="0" lang="en-US" altLang="zh-TW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getdate</a:t>
            </a: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()))))) + </a:t>
            </a:r>
            <a:r>
              <a:rPr kumimoji="0" lang="en-US" altLang="zh-TW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rtrim</a:t>
            </a: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(convert(char(2),month(</a:t>
            </a:r>
            <a:r>
              <a:rPr kumimoji="0" lang="en-US" altLang="zh-TW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getdate</a:t>
            </a: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())))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800" b="0" i="0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--</a:t>
            </a:r>
            <a:r>
              <a: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日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@DD=replicate('0',2-len(</a:t>
            </a:r>
            <a:r>
              <a:rPr kumimoji="0" lang="en-US" altLang="zh-TW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rtrim</a:t>
            </a: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(convert(char(2),day(</a:t>
            </a:r>
            <a:r>
              <a:rPr kumimoji="0" lang="en-US" altLang="zh-TW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getdate</a:t>
            </a: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()))))) + </a:t>
            </a:r>
            <a:r>
              <a:rPr kumimoji="0" lang="en-US" altLang="zh-TW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rtrim</a:t>
            </a: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(convert(char(2),day(</a:t>
            </a:r>
            <a:r>
              <a:rPr kumimoji="0" lang="en-US" altLang="zh-TW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getdate</a:t>
            </a: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())))  </a:t>
            </a:r>
            <a:endParaRPr kumimoji="0" lang="en-US" altLang="zh-TW" sz="1800" b="0" i="0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kumimoji="0" lang="en-US" altLang="zh-TW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@YYYMMDD=@YYY + @MM + @DD    </a:t>
            </a:r>
            <a:r>
              <a:rPr kumimoji="0" lang="en-US" altLang="zh-TW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--</a:t>
            </a:r>
            <a:r>
              <a:rPr lang="zh-TW" altLang="en-US" sz="1800" kern="0" dirty="0">
                <a:solidFill>
                  <a:srgbClr val="000000"/>
                </a:solidFill>
              </a:rPr>
              <a:t>存今天</a:t>
            </a:r>
            <a:r>
              <a:rPr lang="zh-TW" altLang="en-US" sz="1800" kern="0" dirty="0" smtClean="0">
                <a:solidFill>
                  <a:srgbClr val="000000"/>
                </a:solidFill>
              </a:rPr>
              <a:t>的日期</a:t>
            </a:r>
            <a:r>
              <a:rPr kumimoji="0" lang="en-US" altLang="zh-TW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zh-TW" altLang="en-US" sz="1800" kern="0" dirty="0" smtClean="0">
                <a:solidFill>
                  <a:srgbClr val="000000"/>
                </a:solidFill>
              </a:rPr>
              <a:t>格式</a:t>
            </a:r>
            <a:r>
              <a:rPr lang="en-US" altLang="zh-TW" sz="1800" kern="0" dirty="0" smtClean="0">
                <a:solidFill>
                  <a:srgbClr val="000000"/>
                </a:solidFill>
              </a:rPr>
              <a:t>YYYMMDD</a:t>
            </a:r>
            <a:endParaRPr kumimoji="0" lang="en-US" altLang="zh-TW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--</a:t>
            </a:r>
            <a:r>
              <a:rPr kumimoji="0" lang="zh-TW" altLang="en-US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印出今天的日期</a:t>
            </a:r>
            <a:endParaRPr kumimoji="0" lang="en-US" altLang="zh-TW" sz="1800" b="0" i="0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print </a:t>
            </a: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@YYYMMDD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52073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59150" y="24656"/>
            <a:ext cx="9251005" cy="782739"/>
          </a:xfrm>
        </p:spPr>
        <p:txBody>
          <a:bodyPr/>
          <a:lstStyle/>
          <a:p>
            <a:pPr algn="ctr"/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使用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r>
              <a:rPr lang="en-US" altLang="zh-TW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算出當天的進貨總金額</a:t>
            </a:r>
            <a:r>
              <a:rPr lang="en-US" altLang="zh-TW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5"/>
          <p:cNvSpPr>
            <a:spLocks noChangeArrowheads="1"/>
          </p:cNvSpPr>
          <p:nvPr/>
        </p:nvSpPr>
        <p:spPr bwMode="auto">
          <a:xfrm>
            <a:off x="1459150" y="807395"/>
            <a:ext cx="9251004" cy="5885234"/>
          </a:xfrm>
          <a:prstGeom prst="rect">
            <a:avLst/>
          </a:prstGeom>
          <a:solidFill>
            <a:srgbClr val="BBE0E3"/>
          </a:solidFill>
          <a:ln w="9525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declare @YYY  char(3) 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今天的民國年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declare @MM  char(2) 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今天的月份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declare @DD  char(2) 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今天的日期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declare @YYYMMDD char(7)--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今天的年月日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TW" sz="1600" kern="0" dirty="0">
                <a:solidFill>
                  <a:srgbClr val="000000"/>
                </a:solidFill>
              </a:rPr>
              <a:t>--</a:t>
            </a:r>
            <a:r>
              <a:rPr lang="zh-TW" altLang="en-US" sz="1600" kern="0" dirty="0" smtClean="0">
                <a:solidFill>
                  <a:srgbClr val="000000"/>
                </a:solidFill>
              </a:rPr>
              <a:t>年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@YYY=convert(char(3),year(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getdate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())-1911)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月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@MM= replicate('0',2-len(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rtrim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(convert(char(2),month(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getdate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()))))) + 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rtrim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(convert(char(2),month(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getdate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())))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日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@DD=replicate('0',2-len(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rtrim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(convert(char(2),day(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getdate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()))))) + 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rtrim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(convert(char(2),day(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getdate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())))  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@YYYMMDD=@YYY + @MM + @DD    </a:t>
            </a:r>
            <a:r>
              <a:rPr lang="en-US" altLang="zh-TW" sz="1600" kern="0" dirty="0">
                <a:solidFill>
                  <a:srgbClr val="000000"/>
                </a:solidFill>
              </a:rPr>
              <a:t>--</a:t>
            </a:r>
            <a:r>
              <a:rPr lang="zh-TW" altLang="en-US" sz="1600" kern="0" dirty="0">
                <a:solidFill>
                  <a:srgbClr val="000000"/>
                </a:solidFill>
              </a:rPr>
              <a:t>存今天的日期</a:t>
            </a:r>
            <a:r>
              <a:rPr lang="en-US" altLang="zh-TW" sz="1600" kern="0" dirty="0">
                <a:solidFill>
                  <a:srgbClr val="000000"/>
                </a:solidFill>
              </a:rPr>
              <a:t>: </a:t>
            </a:r>
            <a:r>
              <a:rPr lang="zh-TW" altLang="en-US" sz="1600" kern="0" dirty="0">
                <a:solidFill>
                  <a:srgbClr val="000000"/>
                </a:solidFill>
              </a:rPr>
              <a:t>格式</a:t>
            </a:r>
            <a:r>
              <a:rPr lang="en-US" altLang="zh-TW" sz="1600" kern="0" dirty="0" smtClean="0">
                <a:solidFill>
                  <a:srgbClr val="000000"/>
                </a:solidFill>
              </a:rPr>
              <a:t>YYYMMDD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print @YYYMMDD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--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 [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chInpDateTime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]      ,[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chFactNo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]      ,[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rlInpTotAmt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 FROM [DB_TEST].[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dbo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].[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InputHeadTbl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] 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 where left(chInpDateTime,7) = @YYYMMDD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 SELECT  left(chInpDateTime,7) as 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ToDate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, sum(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rlInpTotAmt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 FROM [DB_TEST].[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dbo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].[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InputHeadTbl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] 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 where left(chInpDateTime,7) = @YYYMMDD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 group by left(chInpDateTime,7)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84199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07524" y="1987336"/>
            <a:ext cx="9144000" cy="2395194"/>
          </a:xfrm>
          <a:ln>
            <a:solidFill>
              <a:schemeClr val="accent1"/>
            </a:solidFill>
          </a:ln>
        </p:spPr>
        <p:txBody>
          <a:bodyPr>
            <a:normAutofit/>
          </a:bodyPr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三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取得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昨天的日期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/>
            </a:r>
            <a:b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50699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75361" y="170572"/>
            <a:ext cx="9195882" cy="841105"/>
          </a:xfrm>
          <a:ln>
            <a:solidFill>
              <a:schemeClr val="accent1"/>
            </a:solidFill>
          </a:ln>
        </p:spPr>
        <p:txBody>
          <a:bodyPr/>
          <a:lstStyle/>
          <a:p>
            <a:pPr algn="ctr"/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取得昨天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的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日期 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格式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YYYMMDD)</a:t>
            </a:r>
            <a:endParaRPr lang="zh-TW" altLang="en-US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5" name="矩形 4"/>
          <p:cNvSpPr>
            <a:spLocks noChangeArrowheads="1"/>
          </p:cNvSpPr>
          <p:nvPr/>
        </p:nvSpPr>
        <p:spPr bwMode="auto">
          <a:xfrm>
            <a:off x="1475361" y="1011677"/>
            <a:ext cx="9195881" cy="5584655"/>
          </a:xfrm>
          <a:prstGeom prst="rect">
            <a:avLst/>
          </a:prstGeom>
          <a:solidFill>
            <a:srgbClr val="BBE0E3"/>
          </a:solidFill>
          <a:ln w="9525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declare @YYY  char(3) 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今天的民國年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declare @MM  char(2) 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今天的月份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declare @DD  char(2) 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今天的日期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declare @YYYMMDD char(7)--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昨天的年月日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中國年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declare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YesterdayWestDate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datetime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昨天的年月日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西元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TW" sz="1600" kern="0" dirty="0">
                <a:solidFill>
                  <a:srgbClr val="000000"/>
                </a:solidFill>
              </a:rPr>
              <a:t>p</a:t>
            </a:r>
            <a:r>
              <a:rPr lang="en-US" altLang="zh-TW" sz="1600" kern="0" dirty="0" smtClean="0">
                <a:solidFill>
                  <a:srgbClr val="000000"/>
                </a:solidFill>
              </a:rPr>
              <a:t>rint  </a:t>
            </a:r>
            <a:r>
              <a:rPr lang="en-US" altLang="zh-TW" sz="1600" kern="0" dirty="0" err="1">
                <a:solidFill>
                  <a:srgbClr val="FF0000"/>
                </a:solidFill>
              </a:rPr>
              <a:t>getdate</a:t>
            </a:r>
            <a:r>
              <a:rPr lang="en-US" altLang="zh-TW" sz="1600" kern="0" dirty="0">
                <a:solidFill>
                  <a:srgbClr val="FF0000"/>
                </a:solidFill>
              </a:rPr>
              <a:t>()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YesterdayWestDate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getdate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()-1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print 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YesterdayWestDate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--</a:t>
            </a:r>
            <a:r>
              <a:rPr kumimoji="0" lang="zh-TW" altLang="en-US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年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@YYY=convert(char(3),year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YesterdayWestDate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)-1911)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月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@MM= replicate('0',2-len(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rtrim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(convert(char(2),month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YesterdayWestDate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))))) + 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rtrim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(convert(char(2),month(@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YesterdayWestDate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)))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日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@DD=replicate('0',2-len(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rtrim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(convert(char(2),day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YesterdayWestDate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))))) + 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rtrim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(convert(char(2),day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YesterdayWestDate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)))  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zh-TW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select @YYYMMDD=@YYY + @MM + @DD    </a:t>
            </a:r>
            <a:r>
              <a:rPr lang="en-US" altLang="zh-TW" sz="1600" kern="0" dirty="0">
                <a:solidFill>
                  <a:srgbClr val="000000"/>
                </a:solidFill>
              </a:rPr>
              <a:t>--</a:t>
            </a:r>
            <a:r>
              <a:rPr lang="zh-TW" altLang="en-US" sz="1600" kern="0" dirty="0" smtClean="0">
                <a:solidFill>
                  <a:srgbClr val="000000"/>
                </a:solidFill>
              </a:rPr>
              <a:t>存 </a:t>
            </a:r>
            <a:r>
              <a:rPr lang="en-US" altLang="zh-TW" sz="1600" kern="0" dirty="0" smtClean="0">
                <a:solidFill>
                  <a:srgbClr val="000000"/>
                </a:solidFill>
              </a:rPr>
              <a:t>(</a:t>
            </a:r>
            <a:r>
              <a:rPr lang="zh-TW" altLang="en-US" sz="1600" kern="0" dirty="0" smtClean="0">
                <a:solidFill>
                  <a:srgbClr val="000000"/>
                </a:solidFill>
              </a:rPr>
              <a:t>昨</a:t>
            </a:r>
            <a:r>
              <a:rPr lang="en-US" altLang="zh-TW" sz="1600" kern="0" dirty="0" smtClean="0">
                <a:solidFill>
                  <a:srgbClr val="000000"/>
                </a:solidFill>
              </a:rPr>
              <a:t>) </a:t>
            </a:r>
            <a:r>
              <a:rPr lang="zh-TW" altLang="en-US" sz="1600" kern="0" dirty="0" smtClean="0">
                <a:solidFill>
                  <a:srgbClr val="000000"/>
                </a:solidFill>
              </a:rPr>
              <a:t>天</a:t>
            </a:r>
            <a:r>
              <a:rPr lang="zh-TW" altLang="en-US" sz="1600" kern="0" dirty="0">
                <a:solidFill>
                  <a:srgbClr val="000000"/>
                </a:solidFill>
              </a:rPr>
              <a:t>的日期</a:t>
            </a:r>
            <a:r>
              <a:rPr lang="en-US" altLang="zh-TW" sz="1600" kern="0" dirty="0">
                <a:solidFill>
                  <a:srgbClr val="000000"/>
                </a:solidFill>
              </a:rPr>
              <a:t>: </a:t>
            </a:r>
            <a:r>
              <a:rPr lang="zh-TW" altLang="en-US" sz="1600" kern="0" dirty="0">
                <a:solidFill>
                  <a:srgbClr val="000000"/>
                </a:solidFill>
              </a:rPr>
              <a:t>格式</a:t>
            </a:r>
            <a:r>
              <a:rPr lang="en-US" altLang="zh-TW" sz="1600" kern="0" dirty="0">
                <a:solidFill>
                  <a:srgbClr val="000000"/>
                </a:solidFill>
              </a:rPr>
              <a:t>YYYMMDD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print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@</a:t>
            </a:r>
            <a:r>
              <a:rPr kumimoji="0" lang="en-US" altLang="zh-TW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YYYMMDD   -- </a:t>
            </a:r>
            <a:r>
              <a:rPr kumimoji="0" lang="zh-TW" altLang="en-US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印出昨天的日期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40318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59150" y="24656"/>
            <a:ext cx="9251005" cy="782739"/>
          </a:xfrm>
          <a:ln>
            <a:solidFill>
              <a:schemeClr val="accent1"/>
            </a:solidFill>
          </a:ln>
        </p:spPr>
        <p:txBody>
          <a:bodyPr/>
          <a:lstStyle/>
          <a:p>
            <a:pPr algn="ctr"/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使用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算出昨天的進貨總金額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6" name="矩形 4"/>
          <p:cNvSpPr>
            <a:spLocks noChangeArrowheads="1"/>
          </p:cNvSpPr>
          <p:nvPr/>
        </p:nvSpPr>
        <p:spPr bwMode="auto">
          <a:xfrm>
            <a:off x="1459149" y="807395"/>
            <a:ext cx="9251005" cy="5963056"/>
          </a:xfrm>
          <a:prstGeom prst="rect">
            <a:avLst/>
          </a:prstGeom>
          <a:solidFill>
            <a:srgbClr val="BBE0E3"/>
          </a:solidFill>
          <a:ln w="9525" algn="ctr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declare @YYY  char(3) 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今天的民國年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declare @MM  char(2) 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今天的月份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declare @DD  char(2) 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今天的日期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declare @YYYMMDD char(7)--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昨天的年月日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(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中國年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)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declare 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YesterdayWestDate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datetime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昨天的年月日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(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西元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)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select </a:t>
            </a: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</a:rPr>
              <a:t>@</a:t>
            </a:r>
            <a:r>
              <a:rPr kumimoji="0" lang="en-US" altLang="zh-TW" sz="1600" b="1" i="0" u="none" strike="noStrike" kern="0" cap="none" spc="0" normalizeH="0" baseline="0" noProof="0" dirty="0" err="1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</a:rPr>
              <a:t>YesterdayWestDate</a:t>
            </a: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</a:rPr>
              <a:t>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= 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</a:rPr>
              <a:t>getdate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</a:rPr>
              <a:t>()-1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print 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YesterdayWestDate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--</a:t>
            </a:r>
            <a:r>
              <a:rPr kumimoji="0" lang="zh-TW" altLang="en-US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年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select @YYY=convert(char(3),year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</a:rPr>
              <a:t>(@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</a:rPr>
              <a:t>YesterdayWestDate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)-1911)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月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select @MM= replicate('0',2-len(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rtrim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(convert(char(2),month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</a:rPr>
              <a:t>(@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</a:rPr>
              <a:t>YesterdayWestDate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))))) + 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rtrim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(convert(char(2),month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</a:rPr>
              <a:t>(@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</a:rPr>
              <a:t>YesterdayWestDate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)))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--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日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select @DD=replicate('0',2-len(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rtrim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(convert(char(2),day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</a:rPr>
              <a:t>(@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</a:rPr>
              <a:t>YesterdayWestDate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))))) + 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rtrim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(convert(char(2),day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</a:rPr>
              <a:t>(@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</a:rPr>
              <a:t>YesterdayWestDate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)))  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select @YYYMMDD=@YYY + @MM + @DD    </a:t>
            </a:r>
            <a:r>
              <a:rPr lang="en-US" altLang="zh-TW" sz="1600" kern="0" dirty="0">
                <a:solidFill>
                  <a:srgbClr val="000000"/>
                </a:solidFill>
              </a:rPr>
              <a:t>--</a:t>
            </a:r>
            <a:r>
              <a:rPr lang="zh-TW" altLang="en-US" sz="1600" kern="0" dirty="0">
                <a:solidFill>
                  <a:srgbClr val="000000"/>
                </a:solidFill>
              </a:rPr>
              <a:t>存 </a:t>
            </a:r>
            <a:r>
              <a:rPr lang="en-US" altLang="zh-TW" sz="1600" kern="0" dirty="0">
                <a:solidFill>
                  <a:srgbClr val="000000"/>
                </a:solidFill>
              </a:rPr>
              <a:t>(</a:t>
            </a:r>
            <a:r>
              <a:rPr lang="zh-TW" altLang="en-US" sz="1600" kern="0" dirty="0">
                <a:solidFill>
                  <a:srgbClr val="000000"/>
                </a:solidFill>
              </a:rPr>
              <a:t>昨</a:t>
            </a:r>
            <a:r>
              <a:rPr lang="en-US" altLang="zh-TW" sz="1600" kern="0" dirty="0">
                <a:solidFill>
                  <a:srgbClr val="000000"/>
                </a:solidFill>
              </a:rPr>
              <a:t>) </a:t>
            </a:r>
            <a:r>
              <a:rPr lang="zh-TW" altLang="en-US" sz="1600" kern="0" dirty="0">
                <a:solidFill>
                  <a:srgbClr val="000000"/>
                </a:solidFill>
              </a:rPr>
              <a:t>天的日期</a:t>
            </a:r>
            <a:r>
              <a:rPr lang="en-US" altLang="zh-TW" sz="1600" kern="0" dirty="0">
                <a:solidFill>
                  <a:srgbClr val="000000"/>
                </a:solidFill>
              </a:rPr>
              <a:t>: </a:t>
            </a:r>
            <a:r>
              <a:rPr lang="zh-TW" altLang="en-US" sz="1600" kern="0" dirty="0">
                <a:solidFill>
                  <a:srgbClr val="000000"/>
                </a:solidFill>
              </a:rPr>
              <a:t>格式</a:t>
            </a:r>
            <a:r>
              <a:rPr lang="en-US" altLang="zh-TW" sz="1600" kern="0" dirty="0">
                <a:solidFill>
                  <a:srgbClr val="000000"/>
                </a:solidFill>
              </a:rPr>
              <a:t>YYYMMDD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</a:rPr>
              <a:t>print @</a:t>
            </a:r>
            <a:r>
              <a:rPr kumimoji="0" lang="en-US" altLang="zh-TW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</a:rPr>
              <a:t>YYYMMDD </a:t>
            </a:r>
            <a:r>
              <a:rPr lang="en-US" altLang="zh-TW" sz="1600" kern="0" dirty="0">
                <a:solidFill>
                  <a:srgbClr val="FF0000"/>
                </a:solidFill>
              </a:rPr>
              <a:t>-- </a:t>
            </a:r>
            <a:r>
              <a:rPr lang="zh-TW" altLang="en-US" sz="1600" kern="0" dirty="0">
                <a:solidFill>
                  <a:srgbClr val="FF0000"/>
                </a:solidFill>
              </a:rPr>
              <a:t>印出昨天的日期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 SELECT  left(chInpDateTime,7) as 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ToDate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, sum(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rlInpTotAmt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)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 FROM [DB_TEST].[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dbo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].[</a:t>
            </a:r>
            <a:r>
              <a:rPr kumimoji="0" lang="en-US" altLang="zh-TW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InputHeadTbl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] 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 where left(chInpDateTime,7) =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</a:rPr>
              <a:t>@YYYMMDD</a:t>
            </a:r>
          </a:p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 group by left(chInpDateTime,7)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42913465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07524" y="1987336"/>
            <a:ext cx="9144000" cy="2395194"/>
          </a:xfrm>
          <a:ln>
            <a:solidFill>
              <a:schemeClr val="accent1"/>
            </a:solidFill>
          </a:ln>
        </p:spPr>
        <p:txBody>
          <a:bodyPr>
            <a:normAutofit/>
          </a:bodyPr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四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建立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Store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Procedure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/>
            </a:r>
            <a:b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07524" y="4779085"/>
            <a:ext cx="9144000" cy="1655762"/>
          </a:xfrm>
          <a:ln>
            <a:solidFill>
              <a:schemeClr val="accent1"/>
            </a:solidFill>
          </a:ln>
        </p:spPr>
        <p:txBody>
          <a:bodyPr>
            <a:normAutofit fontScale="92500" lnSpcReduction="20000"/>
          </a:bodyPr>
          <a:lstStyle/>
          <a:p>
            <a:endParaRPr lang="en-US" altLang="zh-TW" dirty="0" smtClean="0"/>
          </a:p>
          <a:p>
            <a:r>
              <a:rPr lang="zh-TW" altLang="en-US" sz="47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執行 </a:t>
            </a:r>
            <a:r>
              <a:rPr lang="en-US" altLang="zh-TW" sz="47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SP</a:t>
            </a:r>
            <a:r>
              <a:rPr lang="en-US" altLang="zh-TW" sz="47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.</a:t>
            </a:r>
          </a:p>
          <a:p>
            <a:r>
              <a:rPr lang="en-US" altLang="zh-TW" sz="47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exec </a:t>
            </a:r>
            <a:r>
              <a:rPr lang="en-US" altLang="zh-TW" sz="4700" dirty="0" err="1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  <a:cs typeface="+mj-cs"/>
              </a:rPr>
              <a:t>SP_name</a:t>
            </a:r>
            <a:endParaRPr lang="en-US" altLang="zh-TW" sz="4700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271100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5417" y="1867711"/>
            <a:ext cx="4510568" cy="3836575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38592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376</TotalTime>
  <Words>1819</Words>
  <Application>Microsoft Office PowerPoint</Application>
  <PresentationFormat>寬螢幕</PresentationFormat>
  <Paragraphs>278</Paragraphs>
  <Slides>18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25" baseType="lpstr">
      <vt:lpstr>新細明體</vt:lpstr>
      <vt:lpstr>新細明體</vt:lpstr>
      <vt:lpstr>標楷體</vt:lpstr>
      <vt:lpstr>Arial</vt:lpstr>
      <vt:lpstr>Calibri</vt:lpstr>
      <vt:lpstr>Calibri Light</vt:lpstr>
      <vt:lpstr>Office 佈景主題</vt:lpstr>
      <vt:lpstr>PowerPoint 簡報</vt:lpstr>
      <vt:lpstr>一.基礎</vt:lpstr>
      <vt:lpstr>1. simple select statement </vt:lpstr>
      <vt:lpstr>2. 條件where、wildcard % 、left join</vt:lpstr>
      <vt:lpstr>3. 加總group by</vt:lpstr>
      <vt:lpstr>4. having sum()、order by (desc)</vt:lpstr>
      <vt:lpstr>5. update</vt:lpstr>
      <vt:lpstr>6. delete</vt:lpstr>
      <vt:lpstr>7. insert-I</vt:lpstr>
      <vt:lpstr>7. insert-II</vt:lpstr>
      <vt:lpstr>二.增加使用變數 </vt:lpstr>
      <vt:lpstr>使用SQL取得今天的日期 (格式YYYMMDD)</vt:lpstr>
      <vt:lpstr>使用SQL(算出當天的進貨總金額)</vt:lpstr>
      <vt:lpstr>三.取得昨天的日期  </vt:lpstr>
      <vt:lpstr>取得昨天的日期 (格式YYYMMDD)</vt:lpstr>
      <vt:lpstr>使用SQL(算出昨天的進貨總金額)</vt:lpstr>
      <vt:lpstr>四.建立Store Procedure  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hp</dc:creator>
  <cp:lastModifiedBy>hp</cp:lastModifiedBy>
  <cp:revision>38</cp:revision>
  <dcterms:created xsi:type="dcterms:W3CDTF">2026-04-11T16:24:25Z</dcterms:created>
  <dcterms:modified xsi:type="dcterms:W3CDTF">2026-04-12T16:17:27Z</dcterms:modified>
</cp:coreProperties>
</file>