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1" r:id="rId3"/>
    <p:sldId id="257" r:id="rId4"/>
    <p:sldId id="258" r:id="rId5"/>
    <p:sldId id="261" r:id="rId6"/>
    <p:sldId id="270" r:id="rId7"/>
    <p:sldId id="272" r:id="rId8"/>
    <p:sldId id="273" r:id="rId9"/>
    <p:sldId id="274" r:id="rId10"/>
    <p:sldId id="275" r:id="rId11"/>
    <p:sldId id="262" r:id="rId12"/>
    <p:sldId id="263" r:id="rId13"/>
    <p:sldId id="264" r:id="rId14"/>
    <p:sldId id="266" r:id="rId15"/>
    <p:sldId id="265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988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8638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76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765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93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6522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2885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8450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7211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632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001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6DA525-4C1A-4B8B-B33C-F8B0B54AD9F2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7856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9"/>
          <p:cNvSpPr>
            <a:spLocks noGrp="1" noChangeArrowheads="1"/>
          </p:cNvSpPr>
          <p:nvPr>
            <p:ph type="subTitle" idx="1"/>
          </p:nvPr>
        </p:nvSpPr>
        <p:spPr>
          <a:xfrm>
            <a:off x="2122489" y="4495801"/>
            <a:ext cx="7921625" cy="2016125"/>
          </a:xfrm>
        </p:spPr>
        <p:txBody>
          <a:bodyPr/>
          <a:lstStyle/>
          <a:p>
            <a:r>
              <a:rPr lang="zh-TW" altLang="en-US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使用環境 </a:t>
            </a:r>
            <a:r>
              <a:rPr lang="en-US" altLang="zh-TW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 SERVER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b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3200" dirty="0">
                <a:solidFill>
                  <a:srgbClr val="0000FF"/>
                </a:solidFill>
              </a:rPr>
              <a:t>SQL Server : 203.64.37.95</a:t>
            </a:r>
          </a:p>
        </p:txBody>
      </p:sp>
      <p:sp>
        <p:nvSpPr>
          <p:cNvPr id="3075" name="Rectangle 25"/>
          <p:cNvSpPr txBox="1">
            <a:spLocks noChangeArrowheads="1"/>
          </p:cNvSpPr>
          <p:nvPr/>
        </p:nvSpPr>
        <p:spPr bwMode="auto">
          <a:xfrm>
            <a:off x="1811339" y="852489"/>
            <a:ext cx="8713989" cy="2809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常用</a:t>
            </a: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必備</a:t>
            </a: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)MS SQL</a:t>
            </a: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語法</a:t>
            </a: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-2</a:t>
            </a:r>
          </a:p>
        </p:txBody>
      </p:sp>
      <p:sp>
        <p:nvSpPr>
          <p:cNvPr id="3076" name="投影片編號版面配置區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buNone/>
            </a:pPr>
            <a:fld id="{6CE61A05-D156-46F0-8A07-353635DF125A}" type="slidenum">
              <a:rPr lang="es-ES" altLang="zh-TW" sz="1400">
                <a:solidFill>
                  <a:srgbClr val="000000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buNone/>
              </a:pPr>
              <a:t>1</a:t>
            </a:fld>
            <a:endParaRPr lang="es-ES" altLang="zh-TW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923478"/>
      </p:ext>
    </p:extLst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 anchor="ctr"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基礎</a:t>
            </a:r>
          </a:p>
        </p:txBody>
      </p:sp>
      <p:sp>
        <p:nvSpPr>
          <p:cNvPr id="4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endParaRPr lang="en-US" altLang="zh-TW" dirty="0"/>
          </a:p>
          <a:p>
            <a:r>
              <a:rPr lang="en-US" altLang="zh-TW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select</a:t>
            </a:r>
            <a:r>
              <a:rPr lang="zh-TW" altLang="en-US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update</a:t>
            </a:r>
            <a:r>
              <a:rPr lang="zh-TW" altLang="en-US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delete</a:t>
            </a:r>
            <a:r>
              <a:rPr lang="zh-TW" altLang="en-US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2598534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252377"/>
              </p:ext>
            </p:extLst>
          </p:nvPr>
        </p:nvGraphicFramePr>
        <p:xfrm>
          <a:off x="259801" y="1008644"/>
          <a:ext cx="11591426" cy="560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746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351373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729307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列出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物品主檔 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endPara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最常用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*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MSSQL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是代表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[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所有的欄位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chProdName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chUnit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rlStockQty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     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rlInpPrice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,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rlSellPrice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,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chCreatDateTime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ProductTbl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明確指出要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[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那些欄位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]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請說明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上述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 &amp; 2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者有何不同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功能相同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673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en-US" altLang="zh-TW" dirty="0" err="1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最適用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(dirty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read)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1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baseline="0" dirty="0" err="1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DB_TEST.dbo.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(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指名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DB.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資料表建立人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96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DB_TEST..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(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指名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DB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但不指名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資料表建立人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359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954936"/>
                  </a:ext>
                </a:extLst>
              </a:tr>
            </a:tbl>
          </a:graphicData>
        </a:graphic>
      </p:graphicFrame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259801" y="209483"/>
            <a:ext cx="11591426" cy="609124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1. simple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select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statement 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6264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101515"/>
            <a:ext cx="10515600" cy="804648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en-US" altLang="zh-TW" dirty="0"/>
              <a:t>2. </a:t>
            </a:r>
            <a:r>
              <a:rPr lang="zh-TW" altLang="en-US" dirty="0"/>
              <a:t>條件</a:t>
            </a:r>
            <a:r>
              <a:rPr lang="en-US" altLang="zh-TW" dirty="0">
                <a:solidFill>
                  <a:srgbClr val="FF0000"/>
                </a:solidFill>
              </a:rPr>
              <a:t>where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>
                <a:latin typeface="PMingLiU" panose="02020500000000000000" pitchFamily="18" charset="-120"/>
                <a:ea typeface="PMingLiU" panose="02020500000000000000" pitchFamily="18" charset="-120"/>
              </a:rPr>
              <a:t>wildcard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%</a:t>
            </a:r>
            <a:r>
              <a:rPr lang="en-US" altLang="zh-TW" dirty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left join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157409"/>
              </p:ext>
            </p:extLst>
          </p:nvPr>
        </p:nvGraphicFramePr>
        <p:xfrm>
          <a:off x="201827" y="1032703"/>
          <a:ext cx="11640064" cy="567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7207872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3908853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列出指定月份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進貨明細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InputDetailTbl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讀出某一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月份所有進貨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 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+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符號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%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進貨日期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left(chInpDateTime,3)+'/'+ substring(chInpDateTime,4,2)+'/'+substring(chInpDateTime,6,2),</a:t>
                      </a:r>
                    </a:p>
                    <a:p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b.chFactName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c.chProdName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a.rlInpQty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a.rlInpPrice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a.rlInpAmt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a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FactoryTbl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b on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b.chFactNo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ProductTbl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c on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c.chProdNo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同上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為增加可讀性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增加廠商名稱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必須使用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left join b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2.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增加物品名稱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必須使用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left join c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註</a:t>
                      </a:r>
                      <a:r>
                        <a:rPr lang="en-US" altLang="zh-TW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</a:t>
                      </a:r>
                      <a:r>
                        <a:rPr lang="en-US" altLang="zh-TW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inner</a:t>
                      </a:r>
                      <a:r>
                        <a:rPr lang="en-US" altLang="zh-TW" baseline="0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join </a:t>
                      </a:r>
                      <a:r>
                        <a:rPr lang="zh-TW" altLang="en-US" baseline="0" dirty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的不同處</a:t>
                      </a:r>
                      <a:endParaRPr lang="zh-TW" altLang="en-US" dirty="0">
                        <a:solidFill>
                          <a:srgbClr val="7030A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zh-TW" alt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進貨日期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zh-TW" alt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4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left(chInpDateTime,3)+'/'+ substring(chInpDateTime,4,2)+'/'+substring(chInpDateTime,6,2)+' '+substring(chInpDateTime,8,2)+':'+substring(chInpDateTime,10,2),</a:t>
                      </a:r>
                    </a:p>
                    <a:p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廠商名稱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b.chFactName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物品名稱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c.chProdName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a.rlInpQty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a.rlInpPrice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a.rlInpAmt</a:t>
                      </a:r>
                      <a:endParaRPr lang="en-US" altLang="zh-TW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a</a:t>
                      </a:r>
                    </a:p>
                    <a:p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FactoryTbl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b on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b.chFactNo</a:t>
                      </a:r>
                      <a:endParaRPr lang="en-US" altLang="zh-TW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ProductTbl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c on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c.chProdNo</a:t>
                      </a:r>
                      <a:endParaRPr lang="en-US" altLang="zh-TW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同上</a:t>
                      </a:r>
                      <a:b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</a:t>
                      </a:r>
                      <a:r>
                        <a:rPr lang="en-US" altLang="zh-TW" sz="1800" kern="1200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:</a:t>
                      </a:r>
                      <a:r>
                        <a:rPr lang="zh-TW" altLang="en-US" sz="1800" kern="1200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進貨日期的可讀性</a:t>
                      </a:r>
                      <a:endParaRPr lang="en-US" altLang="zh-TW" sz="1800" kern="1200" baseline="0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6259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41557"/>
            <a:ext cx="10515600" cy="1092973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3. 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加總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group by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272111"/>
              </p:ext>
            </p:extLst>
          </p:nvPr>
        </p:nvGraphicFramePr>
        <p:xfrm>
          <a:off x="201827" y="1477546"/>
          <a:ext cx="11640064" cy="504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老闆想知道下個月初需付多少錢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)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where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like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'11103</a:t>
                      </a:r>
                      <a:r>
                        <a:rPr lang="en-US" altLang="zh-TW" sz="1800" b="1" kern="120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%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'</a:t>
                      </a:r>
                    </a:p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抓某一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月份所有的進貨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 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b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+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符號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%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) 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where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like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'11103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%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'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抓某一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月份所有的進貨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說明同上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zh-TW" altLang="en-US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進貨月份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'=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left(chInpDateTime,5), 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需付金額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 </a:t>
                      </a:r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老闆想知道下個月初需付多少錢</a:t>
                      </a:r>
                      <a:b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除了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b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還用了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group by (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分群組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zh-TW" altLang="en-US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進貨月份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'=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left(chInpDateTime,5), 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需付金額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rlInpAmt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 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="1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="1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</a:t>
                      </a:r>
                      <a:r>
                        <a:rPr lang="en-US" altLang="zh-TW" b="1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Detail,</a:t>
                      </a:r>
                      <a:r>
                        <a:rPr lang="zh-TW" altLang="en-US" b="1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也有同上的效果</a:t>
                      </a:r>
                      <a:r>
                        <a:rPr lang="en-US" altLang="zh-TW" b="1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思考一下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有需要同時存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及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，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個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Table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嗎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?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198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304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41557"/>
            <a:ext cx="10515600" cy="1092973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4.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having sum()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order by (</a:t>
            </a:r>
            <a:r>
              <a:rPr lang="en-US" altLang="zh-TW" dirty="0" err="1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desc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953833"/>
              </p:ext>
            </p:extLst>
          </p:nvPr>
        </p:nvGraphicFramePr>
        <p:xfrm>
          <a:off x="201827" y="1477545"/>
          <a:ext cx="11640064" cy="39699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542996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今年跟每個廠商進貨的總金額各為多少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由高至底列出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542996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288395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'</a:t>
                      </a:r>
                      <a:r>
                        <a:rPr lang="zh-TW" altLang="en-US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進貨年份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'=left(chInpDateTime,3), 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採購金額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'111%' </a:t>
                      </a:r>
                    </a:p>
                    <a:p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group by left(chInpDateTime,3), 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endParaRPr lang="en-US" altLang="zh-TW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r>
                        <a:rPr lang="en-US" altLang="zh-TW" sz="24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having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24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sum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&gt;15000</a:t>
                      </a:r>
                    </a:p>
                    <a:p>
                      <a:r>
                        <a:rPr lang="en-US" altLang="zh-TW" sz="24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order by 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sum(</a:t>
                      </a:r>
                      <a:r>
                        <a:rPr lang="en-US" altLang="zh-TW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2400" kern="1200" dirty="0" err="1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</a:t>
                      </a:r>
                      <a:endParaRPr lang="zh-TW" altLang="en-US" sz="2400" kern="12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總金額</a:t>
                      </a:r>
                      <a:r>
                        <a:rPr lang="en-US" altLang="zh-TW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&gt;15000</a:t>
                      </a: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元才需要列出來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2479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01827" y="29184"/>
            <a:ext cx="11640064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5.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update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544728"/>
              </p:ext>
            </p:extLst>
          </p:nvPr>
        </p:nvGraphicFramePr>
        <p:xfrm>
          <a:off x="201827" y="787940"/>
          <a:ext cx="11640064" cy="6070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8067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更正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修改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): 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某一欄位的值，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>
                        <a:solidFill>
                          <a:schemeClr val="bg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表格名稱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 =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=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 WHERE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條件</a:t>
                      </a:r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Products SET </a:t>
                      </a:r>
                      <a:r>
                        <a:rPr lang="en-US" altLang="zh-TW" sz="1800" b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ProductName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'</a:t>
                      </a:r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新產品名稱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Price = 100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800" b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ProductID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'A001'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UPDATE 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字串必須用單引號括起來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set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=1000  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='1110309185401'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='1110309185401'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建議先使用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加上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確實看到確實要改的那一筆資料</a:t>
                      </a:r>
                      <a:endParaRPr lang="en-US" altLang="zh-TW" baseline="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--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之後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再改成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update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的指令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206673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1599923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set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rlInpQty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=1,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rlInpAmt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=1000  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712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01827" y="0"/>
            <a:ext cx="11640064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6.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delete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497841"/>
              </p:ext>
            </p:extLst>
          </p:nvPr>
        </p:nvGraphicFramePr>
        <p:xfrm>
          <a:off x="201827" y="770566"/>
          <a:ext cx="11640064" cy="62646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刪除某一列的資料，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>
                        <a:solidFill>
                          <a:schemeClr val="bg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DELETE </a:t>
                      </a:r>
                      <a:r>
                        <a:rPr lang="en-US" altLang="zh-TW" dirty="0">
                          <a:solidFill>
                            <a:srgbClr val="0000FF"/>
                          </a:solidFill>
                        </a:rPr>
                        <a:t>FROM</a:t>
                      </a:r>
                      <a:r>
                        <a:rPr lang="en-US" altLang="zh-TW" dirty="0"/>
                        <a:t> </a:t>
                      </a:r>
                      <a:r>
                        <a:rPr lang="en-US" altLang="zh-TW" dirty="0" err="1"/>
                        <a:t>table_name</a:t>
                      </a:r>
                      <a:r>
                        <a:rPr lang="en-US" altLang="zh-TW" dirty="0"/>
                        <a:t> WHERE condition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Delete  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From </a:t>
                      </a: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非必要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='1100421091023'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delete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='1100421091023' and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建議先使用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加上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確實看到確實要改的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那一筆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</a:t>
                      </a:r>
                      <a:endParaRPr lang="en-US" altLang="zh-TW" baseline="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--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之後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再改成</a:t>
                      </a:r>
                      <a: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delete</a:t>
                      </a:r>
                      <a:r>
                        <a:rPr lang="zh-TW" altLang="en-US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的指令</a:t>
                      </a:r>
                      <a:br>
                        <a:rPr lang="en-US" altLang="zh-TW" baseline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206673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1599923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</a:p>
                    <a:p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delete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where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 </a:t>
                      </a:r>
                      <a:r>
                        <a:rPr lang="zh-TW" altLang="en-US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後面的條件</a:t>
                      </a:r>
                      <a:r>
                        <a:rPr lang="en-US" altLang="zh-TW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</a:t>
                      </a:r>
                      <a:r>
                        <a:rPr lang="en-US" altLang="zh-TW" baseline="0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 ?</a:t>
                      </a: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129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369651"/>
            <a:ext cx="10515600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7.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insert-I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508027"/>
              </p:ext>
            </p:extLst>
          </p:nvPr>
        </p:nvGraphicFramePr>
        <p:xfrm>
          <a:off x="201827" y="1675238"/>
          <a:ext cx="11640064" cy="3984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在資料表中新增一筆資料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資料表名稱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...) VALUES (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2, ...)</a:t>
                      </a:r>
                    </a:p>
                    <a:p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students (name, age, grade) VALUES ('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小明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15, 'A')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Insert</a:t>
                      </a:r>
                      <a:r>
                        <a:rPr lang="en-US" altLang="zh-TW" baseline="0" dirty="0"/>
                        <a:t> </a:t>
                      </a:r>
                      <a:r>
                        <a:rPr lang="en-US" altLang="zh-TW" dirty="0"/>
                        <a:t> 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指定欄位名稱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有可能沒列出所有欄位名稱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字串必須用單引號括起來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資料表名稱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 (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3, ...)</a:t>
                      </a:r>
                    </a:p>
                    <a:p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zh-TW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students VALUES (1, '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小明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15, 'A')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不指定欄位名稱</a:t>
                      </a:r>
                      <a:endParaRPr lang="en-US" altLang="zh-TW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（需插入所有欄位）按欄位順序插入值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11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62647"/>
            <a:ext cx="10515600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7. </a:t>
            </a:r>
            <a:r>
              <a:rPr lang="en-US" altLang="zh-TW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insert-II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565775"/>
              </p:ext>
            </p:extLst>
          </p:nvPr>
        </p:nvGraphicFramePr>
        <p:xfrm>
          <a:off x="201827" y="1791971"/>
          <a:ext cx="11640064" cy="435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5169796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5946929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從資料表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出資料，再插入資料表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從表格</a:t>
                      </a:r>
                      <a:r>
                        <a:rPr lang="en-US" altLang="zh-TW" dirty="0"/>
                        <a:t>A</a:t>
                      </a:r>
                      <a:r>
                        <a:rPr lang="zh-TW" altLang="en-US" dirty="0"/>
                        <a:t>中</a:t>
                      </a:r>
                      <a:r>
                        <a:rPr lang="en-US" altLang="zh-TW" dirty="0"/>
                        <a:t>select</a:t>
                      </a:r>
                      <a:r>
                        <a:rPr lang="zh-TW" altLang="en-US" dirty="0"/>
                        <a:t>出資料</a:t>
                      </a:r>
                      <a:r>
                        <a:rPr lang="en-US" altLang="zh-TW" dirty="0"/>
                        <a:t>,</a:t>
                      </a:r>
                      <a:r>
                        <a:rPr lang="en-US" altLang="zh-TW" baseline="0" dirty="0"/>
                        <a:t> </a:t>
                      </a:r>
                      <a:r>
                        <a:rPr lang="zh-TW" altLang="en-US" baseline="0" dirty="0"/>
                        <a:t>再</a:t>
                      </a:r>
                      <a:r>
                        <a:rPr lang="zh-TW" altLang="en-US" dirty="0"/>
                        <a:t>插入另一表格</a:t>
                      </a:r>
                      <a:r>
                        <a:rPr lang="en-US" altLang="zh-TW" dirty="0"/>
                        <a:t>B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en-US" altLang="zh-TW" sz="1800" b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B_Tbl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name, age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name, age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b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A_Tbl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WHERE grade = 'A'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dirty="0" err="1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B_Tbl</a:t>
                      </a:r>
                      <a:r>
                        <a:rPr lang="zh-TW" altLang="en-US" dirty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結構本來就已經存在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 * 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INTO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新資料表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舊資料表 </a:t>
                      </a:r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</a:p>
                    <a:p>
                      <a:r>
                        <a:rPr lang="en-US" altLang="zh-TW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zh-TW" altLang="en-US" sz="1800" b="0" u="none" strike="noStrike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條件</a:t>
                      </a:r>
                      <a:endParaRPr lang="en-US" altLang="zh-TW" sz="1800" b="0" u="none" strike="noStrike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zh-TW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zh-TW" altLang="en-US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功能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：從舊資料表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(A) 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中篩選符合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條件的資料，並將結果匯入一個自動建立的新資料表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(B)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zh-TW" altLang="en-US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新資料表 </a:t>
                      </a:r>
                      <a:r>
                        <a:rPr lang="en-US" altLang="zh-TW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</a:t>
                      </a:r>
                      <a:r>
                        <a:rPr lang="en-US" altLang="zh-TW" sz="1800" b="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INTO</a:t>
                      </a:r>
                      <a:r>
                        <a:rPr lang="zh-TW" altLang="en-US" sz="1800" b="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會自動定義新資料表的結構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，結構與 </a:t>
                      </a:r>
                      <a:r>
                        <a:rPr lang="en-US" altLang="zh-TW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  <a:r>
                        <a:rPr lang="zh-TW" altLang="en-US" sz="1800" b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出來的資料欄位相同。</a:t>
                      </a:r>
                      <a:endParaRPr lang="en-US" altLang="zh-TW" sz="1800" b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TW" altLang="en-US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注意</a:t>
                      </a:r>
                      <a:r>
                        <a:rPr lang="zh-TW" altLang="en-US" dirty="0"/>
                        <a:t>：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新資料表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B 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不能在執行此語法前已經存在</a:t>
                      </a:r>
                      <a:r>
                        <a:rPr lang="zh-TW" altLang="en-US" dirty="0"/>
                        <a:t>，否則會報錯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957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增加使用變數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endParaRPr lang="en-US" altLang="zh-TW" dirty="0"/>
          </a:p>
          <a:p>
            <a:r>
              <a:rPr lang="zh-TW" altLang="en-US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儲存今天日期</a:t>
            </a:r>
            <a:endParaRPr lang="en-US" altLang="zh-TW" sz="40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5294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75358" y="160844"/>
            <a:ext cx="9516897" cy="782739"/>
          </a:xfrm>
          <a:ln>
            <a:solidFill>
              <a:srgbClr val="000000"/>
            </a:solidFill>
          </a:ln>
        </p:spPr>
        <p:txBody>
          <a:bodyPr>
            <a:normAutofit fontScale="90000"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取得今天的日期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格式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YYYMMDD)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5"/>
          <p:cNvSpPr>
            <a:spLocks noChangeArrowheads="1"/>
          </p:cNvSpPr>
          <p:nvPr/>
        </p:nvSpPr>
        <p:spPr bwMode="auto">
          <a:xfrm>
            <a:off x="1475359" y="1095209"/>
            <a:ext cx="9516896" cy="5636332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今天的年月日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kern="0" dirty="0">
                <a:solidFill>
                  <a:srgbClr val="000000"/>
                </a:solidFill>
              </a:rPr>
              <a:t>--</a:t>
            </a:r>
            <a:r>
              <a:rPr lang="zh-TW" altLang="en-US" sz="1800" kern="0" dirty="0">
                <a:solidFill>
                  <a:srgbClr val="000000"/>
                </a:solidFill>
              </a:rPr>
              <a:t>年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 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--</a:t>
            </a:r>
            <a:r>
              <a:rPr lang="zh-TW" altLang="en-US" sz="1800" kern="0" dirty="0">
                <a:solidFill>
                  <a:srgbClr val="000000"/>
                </a:solidFill>
              </a:rPr>
              <a:t>存今天的日期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zh-TW" altLang="en-US" sz="1800" kern="0" dirty="0">
                <a:solidFill>
                  <a:srgbClr val="000000"/>
                </a:solidFill>
              </a:rPr>
              <a:t>格式</a:t>
            </a:r>
            <a:r>
              <a:rPr lang="en-US" altLang="zh-TW" sz="1800" kern="0" dirty="0">
                <a:solidFill>
                  <a:srgbClr val="000000"/>
                </a:solidFill>
              </a:rPr>
              <a:t>YYYMMDD</a:t>
            </a: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印出今天的日期</a:t>
            </a: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5207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59150" y="24656"/>
            <a:ext cx="9251005" cy="782739"/>
          </a:xfrm>
        </p:spPr>
        <p:txBody>
          <a:bodyPr/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SQL(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算出當天的進貨總金額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5"/>
          <p:cNvSpPr>
            <a:spLocks noChangeArrowheads="1"/>
          </p:cNvSpPr>
          <p:nvPr/>
        </p:nvSpPr>
        <p:spPr bwMode="auto">
          <a:xfrm>
            <a:off x="1459150" y="807395"/>
            <a:ext cx="9251004" cy="5885234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今天的年月日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年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存今天的日期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>
                <a:solidFill>
                  <a:srgbClr val="000000"/>
                </a:solidFill>
              </a:rPr>
              <a:t>YYYMMDD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 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chInpDateTime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     ,[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chFactNo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     ,[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where left(chInpDateTime,7) =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SELECT  left(chInpDateTime,7) as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ToDate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sum(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where left(chInpDateTime,7) =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group by left(chInpDateTime,7)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419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取得昨天的日期 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50699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75361" y="170572"/>
            <a:ext cx="9195882" cy="841105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取得昨天的日期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格式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YYYMMDD)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75361" y="1011677"/>
            <a:ext cx="9195881" cy="5584655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中國年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西元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1600" kern="0" dirty="0">
                <a:solidFill>
                  <a:srgbClr val="000000"/>
                </a:solidFill>
              </a:rPr>
              <a:t>print  </a:t>
            </a:r>
            <a:r>
              <a:rPr lang="en-US" altLang="zh-TW" sz="1600" kern="0" dirty="0" err="1">
                <a:solidFill>
                  <a:srgbClr val="FF0000"/>
                </a:solidFill>
              </a:rPr>
              <a:t>getdate</a:t>
            </a:r>
            <a:r>
              <a:rPr lang="en-US" altLang="zh-TW" sz="1600" kern="0" dirty="0">
                <a:solidFill>
                  <a:srgbClr val="FF0000"/>
                </a:solidFill>
              </a:rPr>
              <a:t>()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()-1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存 </a:t>
            </a:r>
            <a:r>
              <a:rPr lang="en-US" altLang="zh-TW" sz="1600" kern="0" dirty="0">
                <a:solidFill>
                  <a:srgbClr val="000000"/>
                </a:solidFill>
              </a:rPr>
              <a:t>(</a:t>
            </a:r>
            <a:r>
              <a:rPr lang="zh-TW" altLang="en-US" sz="1600" kern="0" dirty="0">
                <a:solidFill>
                  <a:srgbClr val="000000"/>
                </a:solidFill>
              </a:rPr>
              <a:t>昨</a:t>
            </a:r>
            <a:r>
              <a:rPr lang="en-US" altLang="zh-TW" sz="1600" kern="0" dirty="0">
                <a:solidFill>
                  <a:srgbClr val="000000"/>
                </a:solidFill>
              </a:rPr>
              <a:t>) </a:t>
            </a:r>
            <a:r>
              <a:rPr lang="zh-TW" altLang="en-US" sz="1600" kern="0" dirty="0">
                <a:solidFill>
                  <a:srgbClr val="000000"/>
                </a:solidFill>
              </a:rPr>
              <a:t>天的日期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>
                <a:solidFill>
                  <a:srgbClr val="000000"/>
                </a:solidFill>
              </a:rPr>
              <a:t>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@YYYMMDD   -- 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印出昨天的日期</a:t>
            </a:r>
          </a:p>
        </p:txBody>
      </p:sp>
    </p:spTree>
    <p:extLst>
      <p:ext uri="{BB962C8B-B14F-4D97-AF65-F5344CB8AC3E}">
        <p14:creationId xmlns:p14="http://schemas.microsoft.com/office/powerpoint/2010/main" val="1904031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59150" y="24656"/>
            <a:ext cx="9251005" cy="782739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算出昨天的進貨總金額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1459149" y="807395"/>
            <a:ext cx="9251005" cy="5963056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中國年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西元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@</a:t>
            </a:r>
            <a:r>
              <a:rPr kumimoji="0" lang="en-US" altLang="zh-TW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=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()-1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print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YesterdayWestDate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@YYY=convert(char(3),year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存 </a:t>
            </a:r>
            <a:r>
              <a:rPr lang="en-US" altLang="zh-TW" sz="1600" kern="0" dirty="0">
                <a:solidFill>
                  <a:srgbClr val="000000"/>
                </a:solidFill>
              </a:rPr>
              <a:t>(</a:t>
            </a:r>
            <a:r>
              <a:rPr lang="zh-TW" altLang="en-US" sz="1600" kern="0" dirty="0">
                <a:solidFill>
                  <a:srgbClr val="000000"/>
                </a:solidFill>
              </a:rPr>
              <a:t>昨</a:t>
            </a:r>
            <a:r>
              <a:rPr lang="en-US" altLang="zh-TW" sz="1600" kern="0" dirty="0">
                <a:solidFill>
                  <a:srgbClr val="000000"/>
                </a:solidFill>
              </a:rPr>
              <a:t>) </a:t>
            </a:r>
            <a:r>
              <a:rPr lang="zh-TW" altLang="en-US" sz="1600" kern="0" dirty="0">
                <a:solidFill>
                  <a:srgbClr val="000000"/>
                </a:solidFill>
              </a:rPr>
              <a:t>天的日期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>
                <a:solidFill>
                  <a:srgbClr val="000000"/>
                </a:solidFill>
              </a:rPr>
              <a:t>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print @YYYMMDD </a:t>
            </a:r>
            <a:r>
              <a:rPr lang="en-US" altLang="zh-TW" sz="1600" kern="0" dirty="0">
                <a:solidFill>
                  <a:srgbClr val="FF0000"/>
                </a:solidFill>
              </a:rPr>
              <a:t>-- </a:t>
            </a:r>
            <a:r>
              <a:rPr lang="zh-TW" altLang="en-US" sz="1600" kern="0" dirty="0">
                <a:solidFill>
                  <a:srgbClr val="FF0000"/>
                </a:solidFill>
              </a:rPr>
              <a:t>印出昨天的日期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SELECT  left(chInpDateTime,7) as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sum(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where left(chInpDateTime,7) =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group by left(chInpDateTime,7)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291346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四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建立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Store Procedure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 fontScale="92500" lnSpcReduction="20000"/>
          </a:bodyPr>
          <a:lstStyle/>
          <a:p>
            <a:endParaRPr lang="en-US" altLang="zh-TW" dirty="0"/>
          </a:p>
          <a:p>
            <a:r>
              <a:rPr lang="zh-TW" altLang="en-US" sz="47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執行 </a:t>
            </a:r>
            <a:r>
              <a:rPr lang="en-US" altLang="zh-TW" sz="47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SP.</a:t>
            </a:r>
          </a:p>
          <a:p>
            <a:r>
              <a:rPr lang="en-US" altLang="zh-TW" sz="47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exec </a:t>
            </a:r>
            <a:r>
              <a:rPr lang="en-US" altLang="zh-TW" sz="4700" dirty="0" err="1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SP_name</a:t>
            </a:r>
            <a:endParaRPr lang="en-US" altLang="zh-TW" sz="47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27110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417" y="1867711"/>
            <a:ext cx="4510568" cy="38365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38592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2308</Words>
  <Application>Microsoft Office PowerPoint</Application>
  <PresentationFormat>寬螢幕</PresentationFormat>
  <Paragraphs>278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5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PowerPoint 簡報</vt:lpstr>
      <vt:lpstr>一.基礎</vt:lpstr>
      <vt:lpstr>1. simple select statement </vt:lpstr>
      <vt:lpstr>2. 條件where、wildcard % 、left join</vt:lpstr>
      <vt:lpstr>3. 加總group by</vt:lpstr>
      <vt:lpstr>4. having sum()、order by (desc)</vt:lpstr>
      <vt:lpstr>5. update</vt:lpstr>
      <vt:lpstr>6. delete</vt:lpstr>
      <vt:lpstr>7. insert-I</vt:lpstr>
      <vt:lpstr>7. insert-II</vt:lpstr>
      <vt:lpstr>二.增加使用變數 </vt:lpstr>
      <vt:lpstr>使用SQL取得今天的日期 (格式YYYMMDD)</vt:lpstr>
      <vt:lpstr>使用SQL(算出當天的進貨總金額)</vt:lpstr>
      <vt:lpstr>三.取得昨天的日期  </vt:lpstr>
      <vt:lpstr>取得昨天的日期 (格式YYYMMDD)</vt:lpstr>
      <vt:lpstr>使用SQL(算出昨天的進貨總金額)</vt:lpstr>
      <vt:lpstr>四.建立Store Procedure  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hp</dc:creator>
  <cp:lastModifiedBy>user</cp:lastModifiedBy>
  <cp:revision>41</cp:revision>
  <dcterms:created xsi:type="dcterms:W3CDTF">2026-04-11T16:24:25Z</dcterms:created>
  <dcterms:modified xsi:type="dcterms:W3CDTF">2026-04-13T03:55:41Z</dcterms:modified>
</cp:coreProperties>
</file>